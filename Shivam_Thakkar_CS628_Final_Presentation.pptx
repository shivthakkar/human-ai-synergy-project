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03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(~30 seconds)
Good morning/afternoon, everyone. My name is Shivam Thakkar, and today I'm presenting my final project for CS628.
The project is called "Human-AI Synergy: Quantifying the Impact of Explanation Quality on User Trust."
The central question I'm asking is: when an AI system explains itself more clearly, does that actually change how much humans trust it — and more importantly, does that trust translate into them actually following its advice?
To answer this, I built a complete data science pipeline across two datasets, four machine learning models, and over 1,500 data points. Let me walk you through what I found.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BACKGROUND (~60 seconds)
The core problem I'm addressing is this: AI systems are becoming more capable every year, but adoption in high-stakes decisions hasn't kept pace. That gap is about trust.
Most existing research evaluates AI on objective metrics — accuracy, F1 scores. But those don't tell us whether humans actually accept the AI's advice.
My project uses the Weight of Advice framework — WoA — which comes from behavioral decision science. It measures the ratio between how much a person actually moved their answer toward the AI versus how far they could have moved. So WoA of 0 means they ignored the AI completely. WoA of 1 means they fully adopted it.
My specific research question is: does higher explanation transparency lead to higher stated trust — and does that stated trust actually change behavior as measured by WoA?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DATA &amp; METHODOLOGY (~75 seconds)
I used two datasets. The primary dataset has 1,000 rows and 23 columns — it captures AI model outputs alongside user trust scores and skepticism categories.
The key feature I engineered is the Explanation Transparency Score — a composite of 5 normalized variables including AI confidence percentage, whether sources were cited, use of hedging words, inclusion of a disclaimer, and answer detail level.
The secondary dataset comes from an SPSS file hosted on the Open Science Framework — a real behavioral experiment where 526 participants estimated the time to walk around the Moon, before and after receiving AI advice. From this, I computed the Weight of Advice.
My pipeline followed 5 standard data science steps: data acquisition, preparation, exploratory analysis, modeling, and evaluation. I used Python throughout — pandas, numpy, scikit-learn, statsmodels, and seaborn.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RESULTS (~75 seconds)
Let me walk you through the model results. I built four models, each adding complexity.
Model 1, Simple Linear Regression, gave me an R-squared of 0.071 — meaning transparency alone explains just 7% of variance in trust. That's statistically significant at p less than 0.001, with a coefficient of +1.475, but it's a weak predictor on its own.
Model 2, Multiple Linear Regression, jumped to 0.467 by adding digital literacy, AI familiarity, and answer accuracy. Nearly 47% of variance explained.
Model 3, Random Forest, performed best with R-squared of 0.674 — 67% of variance explained, and a mean absolute error under 0.9 points on a 10-point trust scale. This was confirmed by 5-fold cross-validation at 0.639.
Model 4, Logistic Regression, classified users into 4 skepticism categories at 68% accuracy — well above the 25% random baseline.
The four key takeaways are on screen: transparency is significant, AI confidence percentage is the strongest driver, but the attitude-behavior gap is real — stated trust only weakly correlates with actual advice-following.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VISUALIZATIONS: CORE FINDINGS (~60 seconds)
The top figure shows the core relationship between Explanation Transparency and User Trust. On the left, you can see the simple linear regression with confidence and prediction intervals across all 1,000 data points. The positive slope is clear — beta of +1.475 — but the wide prediction interval shows there's a lot of individual variation.
On the right, the same data is broken out by skepticism group. Notice how Blind Trust users stay high regardless of transparency level, while Highly Skeptical users stay low. The Moderate Trust group follows the transparency trend most closely — these are the users where explanation quality makes the biggest difference.
The bottom figure is the Random Forest Feature Importance chart. AI Confidence Percentage dominates at 44.7%. Answer Accuracy is second at 23.5%. Our main transparency score ranks 4th at 6.2%. This tells us that behavioral signals from the AI — how confident it appears — matter more than structural explanation features.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MODEL DASHBOARD &amp; BEHAVIORAL VALIDATION (~60 seconds)
This dashboard on the left puts all model results in one view. Top row: R-squared climbs from 0.071 to 0.467 to 0.674 as we move from simple to multiple to Random Forest regression. MAE drops from 1.48 to 0.89 — each improvement is meaningful for a 0-10 trust scale.
Bottom left shows CV stability — the Random Forest maintains strong performance across all 5 folds, confirming it's not overfitting. Bottom middle is the Logistic Regression classification — 68% test accuracy against a 25% random baseline. Bottom right is the actual-versus-predicted scatter for Random Forest.
On the right, the WoA scatter plot from the secondary dataset reveals the most provocative finding: even people who report high trust don't necessarily update their answers toward the AI. The correlation between stated trust and actual advice-following is only r equals 0.078. This attitude-behavior gap suggests that designing AI to feel trustworthy may not be enough to drive real adoption.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CONCLUSIONS (~45 seconds)
To summarize: Explanation transparency does significantly predict user trust — and Random Forest explains 67% of that variance. But the most important driver turned out to be how the AI communicates its confidence level — not the structural explanation features I initially focused on.
The attitude-behavior gap — where stated trust has only a weak correlation of 0.078 with actual advice-following — is the most important practical implication. It suggests that designing AI to feel trustworthy is necessary but not sufficient. We need behavioral mechanisms that bridge the gap.
For future work, I'd extend this to include personality variables, test non-linear trust models, and use longitudinal designs to see how trust calibrates over time.
The bottom line: technical accuracy alone is not enough for AI adoption. How AI explains itself — particularly its confidence — is the real driver of synergy between humans and machines.
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no speaking notes needed. Available for Q&amp;A.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txBody>
          <a:bodyPr/>
          <a:lstStyle/>
          <a:p>
            <a:endParaRPr lang="en-US"/>
          </a:p>
        </p:txBody>
      </p:sp>
      <p:sp>
        <p:nvSpPr>
          <p:cNvPr id="3" name="Shape 1"/>
          <p:cNvSpPr/>
          <p:nvPr/>
        </p:nvSpPr>
        <p:spPr>
          <a:xfrm>
            <a:off x="640080" y="914400"/>
            <a:ext cx="45720" cy="2011680"/>
          </a:xfrm>
          <a:prstGeom prst="rect">
            <a:avLst/>
          </a:prstGeom>
          <a:solidFill>
            <a:srgbClr val="00A896"/>
          </a:solidFill>
          <a:ln/>
        </p:spPr>
        <p:txBody>
          <a:bodyPr/>
          <a:lstStyle/>
          <a:p>
            <a:endParaRPr lang="en-US"/>
          </a:p>
        </p:txBody>
      </p:sp>
      <p:sp>
        <p:nvSpPr>
          <p:cNvPr id="4" name="Text 2"/>
          <p:cNvSpPr/>
          <p:nvPr/>
        </p:nvSpPr>
        <p:spPr>
          <a:xfrm>
            <a:off x="914400" y="914400"/>
            <a:ext cx="5943600" cy="731520"/>
          </a:xfrm>
          <a:prstGeom prst="rect">
            <a:avLst/>
          </a:prstGeom>
          <a:noFill/>
          <a:ln/>
        </p:spPr>
        <p:txBody>
          <a:bodyPr wrap="square" lIns="0" tIns="0" rIns="0" bIns="0"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Human-AI Synergy</a:t>
            </a:r>
            <a:endParaRPr lang="en-US" sz="3800" dirty="0"/>
          </a:p>
        </p:txBody>
      </p:sp>
      <p:sp>
        <p:nvSpPr>
          <p:cNvPr id="5" name="Text 3"/>
          <p:cNvSpPr/>
          <p:nvPr/>
        </p:nvSpPr>
        <p:spPr>
          <a:xfrm>
            <a:off x="914400" y="1600200"/>
            <a:ext cx="5943600" cy="822960"/>
          </a:xfrm>
          <a:prstGeom prst="rect">
            <a:avLst/>
          </a:prstGeom>
          <a:noFill/>
          <a:ln/>
        </p:spPr>
        <p:txBody>
          <a:bodyPr wrap="square" lIns="0" tIns="0" rIns="0" bIns="0" rtlCol="0" anchor="ctr"/>
          <a:lstStyle/>
          <a:p>
            <a:pPr marL="0" indent="0">
              <a:lnSpc>
                <a:spcPct val="120000"/>
              </a:lnSpc>
              <a:buNone/>
            </a:pPr>
            <a:r>
              <a:rPr lang="en-US" sz="2000" dirty="0">
                <a:solidFill>
                  <a:srgbClr val="00A896"/>
                </a:solidFill>
                <a:latin typeface="Calibri" pitchFamily="34" charset="0"/>
                <a:ea typeface="Calibri" pitchFamily="34" charset="-122"/>
                <a:cs typeface="Calibri" pitchFamily="34" charset="-120"/>
              </a:rPr>
              <a:t>Quantifying the Impact of Explanation</a:t>
            </a:r>
            <a:endParaRPr lang="en-US" sz="2000" dirty="0"/>
          </a:p>
          <a:p>
            <a:pPr marL="0" indent="0">
              <a:lnSpc>
                <a:spcPct val="120000"/>
              </a:lnSpc>
              <a:buNone/>
            </a:pPr>
            <a:r>
              <a:rPr lang="en-US" sz="2000" dirty="0">
                <a:solidFill>
                  <a:srgbClr val="00A896"/>
                </a:solidFill>
                <a:latin typeface="Calibri" pitchFamily="34" charset="0"/>
                <a:ea typeface="Calibri" pitchFamily="34" charset="-122"/>
                <a:cs typeface="Calibri" pitchFamily="34" charset="-120"/>
              </a:rPr>
              <a:t>Quality on User Trust</a:t>
            </a:r>
            <a:endParaRPr lang="en-US" sz="2000" dirty="0"/>
          </a:p>
        </p:txBody>
      </p:sp>
      <p:sp>
        <p:nvSpPr>
          <p:cNvPr id="6" name="Text 4"/>
          <p:cNvSpPr/>
          <p:nvPr/>
        </p:nvSpPr>
        <p:spPr>
          <a:xfrm>
            <a:off x="914400" y="2743200"/>
            <a:ext cx="5943600" cy="9144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Shivam Thakkar</a:t>
            </a:r>
            <a:endParaRPr lang="en-US" sz="1600" dirty="0"/>
          </a:p>
          <a:p>
            <a:pPr marL="0" indent="0">
              <a:buNone/>
            </a:pPr>
            <a:r>
              <a:rPr lang="en-US" sz="1100" dirty="0">
                <a:solidFill>
                  <a:srgbClr val="7C919E"/>
                </a:solidFill>
                <a:latin typeface="Calibri" pitchFamily="34" charset="0"/>
                <a:ea typeface="Calibri" pitchFamily="34" charset="-122"/>
                <a:cs typeface="Calibri" pitchFamily="34" charset="-120"/>
              </a:rPr>
              <a:t>CS628-151W: Data Science  |  Monroe University, King Graduate School</a:t>
            </a:r>
            <a:endParaRPr lang="en-US" sz="1600" dirty="0"/>
          </a:p>
          <a:p>
            <a:pPr marL="0" indent="0">
              <a:buNone/>
            </a:pPr>
            <a:r>
              <a:rPr lang="en-US" sz="1100" dirty="0">
                <a:solidFill>
                  <a:srgbClr val="7C919E"/>
                </a:solidFill>
                <a:latin typeface="Calibri" pitchFamily="34" charset="0"/>
                <a:ea typeface="Calibri" pitchFamily="34" charset="-122"/>
                <a:cs typeface="Calibri" pitchFamily="34" charset="-120"/>
              </a:rPr>
              <a:t>Professor Khadhirunissa Shaik  |  March 2026</a:t>
            </a:r>
            <a:endParaRPr lang="en-US" sz="1600" dirty="0"/>
          </a:p>
        </p:txBody>
      </p:sp>
      <p:sp>
        <p:nvSpPr>
          <p:cNvPr id="7" name="Shape 5"/>
          <p:cNvSpPr/>
          <p:nvPr/>
        </p:nvSpPr>
        <p:spPr>
          <a:xfrm>
            <a:off x="6583680" y="502920"/>
            <a:ext cx="2103120" cy="86868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6583680" y="502920"/>
            <a:ext cx="54864" cy="868680"/>
          </a:xfrm>
          <a:prstGeom prst="rect">
            <a:avLst/>
          </a:prstGeom>
          <a:solidFill>
            <a:srgbClr val="0C7C84"/>
          </a:solidFill>
          <a:ln/>
        </p:spPr>
        <p:txBody>
          <a:bodyPr/>
          <a:lstStyle/>
          <a:p>
            <a:endParaRPr lang="en-US"/>
          </a:p>
        </p:txBody>
      </p:sp>
      <p:sp>
        <p:nvSpPr>
          <p:cNvPr id="9" name="Text 7"/>
          <p:cNvSpPr/>
          <p:nvPr/>
        </p:nvSpPr>
        <p:spPr>
          <a:xfrm>
            <a:off x="6766560" y="594360"/>
            <a:ext cx="1828800" cy="411480"/>
          </a:xfrm>
          <a:prstGeom prst="rect">
            <a:avLst/>
          </a:prstGeom>
          <a:noFill/>
          <a:ln/>
        </p:spPr>
        <p:txBody>
          <a:bodyPr wrap="square" lIns="0" tIns="0" rIns="0" bIns="0" rtlCol="0" anchor="ctr"/>
          <a:lstStyle/>
          <a:p>
            <a:pPr marL="0" indent="0">
              <a:buNone/>
            </a:pPr>
            <a:r>
              <a:rPr lang="en-US" sz="1800" b="1" dirty="0">
                <a:solidFill>
                  <a:srgbClr val="0C7C84"/>
                </a:solidFill>
                <a:latin typeface="Trebuchet MS" pitchFamily="34" charset="0"/>
                <a:ea typeface="Trebuchet MS" pitchFamily="34" charset="-122"/>
                <a:cs typeface="Trebuchet MS" pitchFamily="34" charset="-120"/>
              </a:rPr>
              <a:t>1,000</a:t>
            </a:r>
            <a:endParaRPr lang="en-US" sz="1800" dirty="0"/>
          </a:p>
        </p:txBody>
      </p:sp>
      <p:sp>
        <p:nvSpPr>
          <p:cNvPr id="10" name="Text 8"/>
          <p:cNvSpPr/>
          <p:nvPr/>
        </p:nvSpPr>
        <p:spPr>
          <a:xfrm>
            <a:off x="6766560" y="978408"/>
            <a:ext cx="1828800" cy="274320"/>
          </a:xfrm>
          <a:prstGeom prst="rect">
            <a:avLst/>
          </a:prstGeom>
          <a:noFill/>
          <a:ln/>
        </p:spPr>
        <p:txBody>
          <a:bodyPr wrap="square" lIns="0" tIns="0" rIns="0" bIns="0" rtlCol="0" anchor="ctr"/>
          <a:lstStyle/>
          <a:p>
            <a:pPr marL="0" indent="0">
              <a:buNone/>
            </a:pPr>
            <a:r>
              <a:rPr lang="en-US" sz="1000" dirty="0">
                <a:solidFill>
                  <a:srgbClr val="7C919E"/>
                </a:solidFill>
                <a:latin typeface="Calibri" pitchFamily="34" charset="0"/>
                <a:ea typeface="Calibri" pitchFamily="34" charset="-122"/>
                <a:cs typeface="Calibri" pitchFamily="34" charset="-120"/>
              </a:rPr>
              <a:t>Primary Dataset Rows</a:t>
            </a:r>
            <a:endParaRPr lang="en-US" sz="1000" dirty="0"/>
          </a:p>
        </p:txBody>
      </p:sp>
      <p:sp>
        <p:nvSpPr>
          <p:cNvPr id="11" name="Shape 9"/>
          <p:cNvSpPr/>
          <p:nvPr/>
        </p:nvSpPr>
        <p:spPr>
          <a:xfrm>
            <a:off x="6583680" y="1600200"/>
            <a:ext cx="2103120" cy="86868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6583680" y="1600200"/>
            <a:ext cx="54864" cy="868680"/>
          </a:xfrm>
          <a:prstGeom prst="rect">
            <a:avLst/>
          </a:prstGeom>
          <a:solidFill>
            <a:srgbClr val="E8833A"/>
          </a:solidFill>
          <a:ln/>
        </p:spPr>
        <p:txBody>
          <a:bodyPr/>
          <a:lstStyle/>
          <a:p>
            <a:endParaRPr lang="en-US"/>
          </a:p>
        </p:txBody>
      </p:sp>
      <p:sp>
        <p:nvSpPr>
          <p:cNvPr id="13" name="Text 11"/>
          <p:cNvSpPr/>
          <p:nvPr/>
        </p:nvSpPr>
        <p:spPr>
          <a:xfrm>
            <a:off x="6766560" y="1691640"/>
            <a:ext cx="1828800" cy="411480"/>
          </a:xfrm>
          <a:prstGeom prst="rect">
            <a:avLst/>
          </a:prstGeom>
          <a:noFill/>
          <a:ln/>
        </p:spPr>
        <p:txBody>
          <a:bodyPr wrap="square" lIns="0" tIns="0" rIns="0" bIns="0" rtlCol="0" anchor="ctr"/>
          <a:lstStyle/>
          <a:p>
            <a:pPr marL="0" indent="0">
              <a:buNone/>
            </a:pPr>
            <a:r>
              <a:rPr lang="en-US" sz="1800" b="1" dirty="0">
                <a:solidFill>
                  <a:srgbClr val="E8833A"/>
                </a:solidFill>
                <a:latin typeface="Trebuchet MS" pitchFamily="34" charset="0"/>
                <a:ea typeface="Trebuchet MS" pitchFamily="34" charset="-122"/>
                <a:cs typeface="Trebuchet MS" pitchFamily="34" charset="-120"/>
              </a:rPr>
              <a:t>4 Models</a:t>
            </a:r>
            <a:endParaRPr lang="en-US" sz="1800" dirty="0"/>
          </a:p>
        </p:txBody>
      </p:sp>
      <p:sp>
        <p:nvSpPr>
          <p:cNvPr id="14" name="Text 12"/>
          <p:cNvSpPr/>
          <p:nvPr/>
        </p:nvSpPr>
        <p:spPr>
          <a:xfrm>
            <a:off x="6766560" y="2075688"/>
            <a:ext cx="1828800" cy="274320"/>
          </a:xfrm>
          <a:prstGeom prst="rect">
            <a:avLst/>
          </a:prstGeom>
          <a:noFill/>
          <a:ln/>
        </p:spPr>
        <p:txBody>
          <a:bodyPr wrap="square" lIns="0" tIns="0" rIns="0" bIns="0" rtlCol="0" anchor="ctr"/>
          <a:lstStyle/>
          <a:p>
            <a:pPr marL="0" indent="0">
              <a:buNone/>
            </a:pPr>
            <a:r>
              <a:rPr lang="en-US" sz="1000" dirty="0">
                <a:solidFill>
                  <a:srgbClr val="7C919E"/>
                </a:solidFill>
                <a:latin typeface="Calibri" pitchFamily="34" charset="0"/>
                <a:ea typeface="Calibri" pitchFamily="34" charset="-122"/>
                <a:cs typeface="Calibri" pitchFamily="34" charset="-120"/>
              </a:rPr>
              <a:t>Built &amp; Evaluated</a:t>
            </a:r>
            <a:endParaRPr lang="en-US" sz="1000" dirty="0"/>
          </a:p>
        </p:txBody>
      </p:sp>
      <p:sp>
        <p:nvSpPr>
          <p:cNvPr id="15" name="Shape 13"/>
          <p:cNvSpPr/>
          <p:nvPr/>
        </p:nvSpPr>
        <p:spPr>
          <a:xfrm>
            <a:off x="6583680" y="2697480"/>
            <a:ext cx="2103120" cy="86868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16" name="Shape 14"/>
          <p:cNvSpPr/>
          <p:nvPr/>
        </p:nvSpPr>
        <p:spPr>
          <a:xfrm>
            <a:off x="6583680" y="2697480"/>
            <a:ext cx="54864" cy="868680"/>
          </a:xfrm>
          <a:prstGeom prst="rect">
            <a:avLst/>
          </a:prstGeom>
          <a:solidFill>
            <a:srgbClr val="00A896"/>
          </a:solidFill>
          <a:ln/>
        </p:spPr>
        <p:txBody>
          <a:bodyPr/>
          <a:lstStyle/>
          <a:p>
            <a:endParaRPr lang="en-US"/>
          </a:p>
        </p:txBody>
      </p:sp>
      <p:sp>
        <p:nvSpPr>
          <p:cNvPr id="17" name="Text 15"/>
          <p:cNvSpPr/>
          <p:nvPr/>
        </p:nvSpPr>
        <p:spPr>
          <a:xfrm>
            <a:off x="6766560" y="2788920"/>
            <a:ext cx="1828800" cy="411480"/>
          </a:xfrm>
          <a:prstGeom prst="rect">
            <a:avLst/>
          </a:prstGeom>
          <a:noFill/>
          <a:ln/>
        </p:spPr>
        <p:txBody>
          <a:bodyPr wrap="square" lIns="0" tIns="0" rIns="0" bIns="0" rtlCol="0" anchor="ctr"/>
          <a:lstStyle/>
          <a:p>
            <a:pPr marL="0" indent="0">
              <a:buNone/>
            </a:pPr>
            <a:r>
              <a:rPr lang="en-US" sz="1800" b="1" dirty="0">
                <a:solidFill>
                  <a:srgbClr val="00A896"/>
                </a:solidFill>
                <a:latin typeface="Trebuchet MS" pitchFamily="34" charset="0"/>
                <a:ea typeface="Trebuchet MS" pitchFamily="34" charset="-122"/>
                <a:cs typeface="Trebuchet MS" pitchFamily="34" charset="-120"/>
              </a:rPr>
              <a:t>R² = 0.674</a:t>
            </a:r>
            <a:endParaRPr lang="en-US" sz="1800" dirty="0"/>
          </a:p>
        </p:txBody>
      </p:sp>
      <p:sp>
        <p:nvSpPr>
          <p:cNvPr id="18" name="Text 16"/>
          <p:cNvSpPr/>
          <p:nvPr/>
        </p:nvSpPr>
        <p:spPr>
          <a:xfrm>
            <a:off x="6766560" y="3172968"/>
            <a:ext cx="1828800" cy="274320"/>
          </a:xfrm>
          <a:prstGeom prst="rect">
            <a:avLst/>
          </a:prstGeom>
          <a:noFill/>
          <a:ln/>
        </p:spPr>
        <p:txBody>
          <a:bodyPr wrap="square" lIns="0" tIns="0" rIns="0" bIns="0" rtlCol="0" anchor="ctr"/>
          <a:lstStyle/>
          <a:p>
            <a:pPr marL="0" indent="0">
              <a:buNone/>
            </a:pPr>
            <a:r>
              <a:rPr lang="en-US" sz="1000" dirty="0">
                <a:solidFill>
                  <a:srgbClr val="7C919E"/>
                </a:solidFill>
                <a:latin typeface="Calibri" pitchFamily="34" charset="0"/>
                <a:ea typeface="Calibri" pitchFamily="34" charset="-122"/>
                <a:cs typeface="Calibri" pitchFamily="34" charset="-120"/>
              </a:rPr>
              <a:t>Best Model (RF)</a:t>
            </a:r>
            <a:endParaRPr lang="en-US" sz="1000" dirty="0"/>
          </a:p>
        </p:txBody>
      </p:sp>
      <p:sp>
        <p:nvSpPr>
          <p:cNvPr id="19" name="Shape 17"/>
          <p:cNvSpPr/>
          <p:nvPr/>
        </p:nvSpPr>
        <p:spPr>
          <a:xfrm>
            <a:off x="6583680" y="3794760"/>
            <a:ext cx="2103120" cy="86868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20" name="Shape 18"/>
          <p:cNvSpPr/>
          <p:nvPr/>
        </p:nvSpPr>
        <p:spPr>
          <a:xfrm>
            <a:off x="6583680" y="3794760"/>
            <a:ext cx="54864" cy="868680"/>
          </a:xfrm>
          <a:prstGeom prst="rect">
            <a:avLst/>
          </a:prstGeom>
          <a:solidFill>
            <a:srgbClr val="D4A843"/>
          </a:solidFill>
          <a:ln/>
        </p:spPr>
        <p:txBody>
          <a:bodyPr/>
          <a:lstStyle/>
          <a:p>
            <a:endParaRPr lang="en-US"/>
          </a:p>
        </p:txBody>
      </p:sp>
      <p:sp>
        <p:nvSpPr>
          <p:cNvPr id="21" name="Text 19"/>
          <p:cNvSpPr/>
          <p:nvPr/>
        </p:nvSpPr>
        <p:spPr>
          <a:xfrm>
            <a:off x="6766560" y="3886200"/>
            <a:ext cx="1828800" cy="411480"/>
          </a:xfrm>
          <a:prstGeom prst="rect">
            <a:avLst/>
          </a:prstGeom>
          <a:noFill/>
          <a:ln/>
        </p:spPr>
        <p:txBody>
          <a:bodyPr wrap="square" lIns="0" tIns="0" rIns="0" bIns="0" rtlCol="0" anchor="ctr"/>
          <a:lstStyle/>
          <a:p>
            <a:pPr marL="0" indent="0">
              <a:buNone/>
            </a:pPr>
            <a:r>
              <a:rPr lang="en-US" sz="1800" b="1" dirty="0">
                <a:solidFill>
                  <a:srgbClr val="D4A843"/>
                </a:solidFill>
                <a:latin typeface="Trebuchet MS" pitchFamily="34" charset="0"/>
                <a:ea typeface="Trebuchet MS" pitchFamily="34" charset="-122"/>
                <a:cs typeface="Trebuchet MS" pitchFamily="34" charset="-120"/>
              </a:rPr>
              <a:t>WoA</a:t>
            </a:r>
            <a:endParaRPr lang="en-US" sz="1800" dirty="0"/>
          </a:p>
        </p:txBody>
      </p:sp>
      <p:sp>
        <p:nvSpPr>
          <p:cNvPr id="22" name="Text 20"/>
          <p:cNvSpPr/>
          <p:nvPr/>
        </p:nvSpPr>
        <p:spPr>
          <a:xfrm>
            <a:off x="6766560" y="4270248"/>
            <a:ext cx="1828800" cy="274320"/>
          </a:xfrm>
          <a:prstGeom prst="rect">
            <a:avLst/>
          </a:prstGeom>
          <a:noFill/>
          <a:ln/>
        </p:spPr>
        <p:txBody>
          <a:bodyPr wrap="square" lIns="0" tIns="0" rIns="0" bIns="0" rtlCol="0" anchor="ctr"/>
          <a:lstStyle/>
          <a:p>
            <a:pPr marL="0" indent="0">
              <a:buNone/>
            </a:pPr>
            <a:r>
              <a:rPr lang="en-US" sz="1000" dirty="0">
                <a:solidFill>
                  <a:srgbClr val="7C919E"/>
                </a:solidFill>
                <a:latin typeface="Calibri" pitchFamily="34" charset="0"/>
                <a:ea typeface="Calibri" pitchFamily="34" charset="-122"/>
                <a:cs typeface="Calibri" pitchFamily="34" charset="-120"/>
              </a:rPr>
              <a:t>Behavioral Framework</a:t>
            </a:r>
            <a:endParaRPr lang="en-US" sz="1000" dirty="0"/>
          </a:p>
        </p:txBody>
      </p:sp>
      <p:sp>
        <p:nvSpPr>
          <p:cNvPr id="23" name="Shape 21"/>
          <p:cNvSpPr/>
          <p:nvPr/>
        </p:nvSpPr>
        <p:spPr>
          <a:xfrm>
            <a:off x="0" y="4892040"/>
            <a:ext cx="9144000" cy="256032"/>
          </a:xfrm>
          <a:prstGeom prst="rect">
            <a:avLst/>
          </a:prstGeom>
          <a:solidFill>
            <a:srgbClr val="1E3A5F"/>
          </a:solidFill>
          <a:ln/>
        </p:spPr>
        <p:txBody>
          <a:bodyPr/>
          <a:lstStyle/>
          <a:p>
            <a:endParaRPr lang="en-US"/>
          </a:p>
        </p:txBody>
      </p:sp>
      <p:sp>
        <p:nvSpPr>
          <p:cNvPr id="24" name="Text 22"/>
          <p:cNvSpPr/>
          <p:nvPr/>
        </p:nvSpPr>
        <p:spPr>
          <a:xfrm>
            <a:off x="640080" y="4892040"/>
            <a:ext cx="7863840" cy="256032"/>
          </a:xfrm>
          <a:prstGeom prst="rect">
            <a:avLst/>
          </a:prstGeom>
          <a:noFill/>
          <a:ln/>
        </p:spPr>
        <p:txBody>
          <a:bodyPr wrap="square" rtlCol="0" anchor="ctr"/>
          <a:lstStyle/>
          <a:p>
            <a:pPr marL="0" indent="0">
              <a:buNone/>
            </a:pPr>
            <a:r>
              <a:rPr lang="en-US" sz="900" dirty="0">
                <a:solidFill>
                  <a:srgbClr val="7C919E"/>
                </a:solidFill>
                <a:latin typeface="Calibri" pitchFamily="34" charset="0"/>
                <a:ea typeface="Calibri" pitchFamily="34" charset="-122"/>
                <a:cs typeface="Calibri" pitchFamily="34" charset="-120"/>
              </a:rPr>
              <a:t>Weight of Advice (WoA) Framework  ·  Python / scikit-learn / statsmodels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C7C84"/>
          </a:solidFill>
          <a:ln/>
        </p:spPr>
        <p:txBody>
          <a:bodyPr/>
          <a:lstStyle/>
          <a:p>
            <a:endParaRPr lang="en-US"/>
          </a:p>
        </p:txBody>
      </p:sp>
      <p:sp>
        <p:nvSpPr>
          <p:cNvPr id="3" name="Text 1"/>
          <p:cNvSpPr/>
          <p:nvPr/>
        </p:nvSpPr>
        <p:spPr>
          <a:xfrm>
            <a:off x="457200" y="228600"/>
            <a:ext cx="548640" cy="457200"/>
          </a:xfrm>
          <a:prstGeom prst="rect">
            <a:avLst/>
          </a:prstGeom>
          <a:noFill/>
          <a:ln/>
        </p:spPr>
        <p:txBody>
          <a:bodyPr wrap="square" lIns="0" tIns="0" rIns="0" bIns="0" rtlCol="0" anchor="ctr"/>
          <a:lstStyle/>
          <a:p>
            <a:pPr marL="0" indent="0">
              <a:buNone/>
            </a:pPr>
            <a:r>
              <a:rPr lang="en-US" sz="2800" b="1" dirty="0">
                <a:solidFill>
                  <a:srgbClr val="0C7C84"/>
                </a:solidFill>
                <a:latin typeface="Trebuchet MS" pitchFamily="34" charset="0"/>
                <a:ea typeface="Trebuchet MS" pitchFamily="34" charset="-122"/>
                <a:cs typeface="Trebuchet MS" pitchFamily="34" charset="-120"/>
              </a:rPr>
              <a:t>02</a:t>
            </a:r>
            <a:endParaRPr lang="en-US" sz="2800" dirty="0"/>
          </a:p>
        </p:txBody>
      </p:sp>
      <p:sp>
        <p:nvSpPr>
          <p:cNvPr id="4" name="Text 2"/>
          <p:cNvSpPr/>
          <p:nvPr/>
        </p:nvSpPr>
        <p:spPr>
          <a:xfrm>
            <a:off x="1051560" y="256032"/>
            <a:ext cx="4572000" cy="411480"/>
          </a:xfrm>
          <a:prstGeom prst="rect">
            <a:avLst/>
          </a:prstGeom>
          <a:noFill/>
          <a:ln/>
        </p:spPr>
        <p:txBody>
          <a:bodyPr wrap="square" lIns="0" tIns="0" rIns="0" bIns="0" rtlCol="0" anchor="ctr"/>
          <a:lstStyle/>
          <a:p>
            <a:pPr marL="0" indent="0">
              <a:buNone/>
            </a:pPr>
            <a:r>
              <a:rPr lang="en-US" sz="2200" b="1" dirty="0">
                <a:solidFill>
                  <a:srgbClr val="1C2D41"/>
                </a:solidFill>
                <a:latin typeface="Trebuchet MS" pitchFamily="34" charset="0"/>
                <a:ea typeface="Trebuchet MS" pitchFamily="34" charset="-122"/>
                <a:cs typeface="Trebuchet MS" pitchFamily="34" charset="-120"/>
              </a:rPr>
              <a:t>Research Background &amp; Motivation</a:t>
            </a:r>
            <a:endParaRPr lang="en-US" sz="2200" dirty="0"/>
          </a:p>
        </p:txBody>
      </p:sp>
      <p:sp>
        <p:nvSpPr>
          <p:cNvPr id="5" name="Text 3"/>
          <p:cNvSpPr/>
          <p:nvPr/>
        </p:nvSpPr>
        <p:spPr>
          <a:xfrm>
            <a:off x="457200" y="868680"/>
            <a:ext cx="3931920" cy="320040"/>
          </a:xfrm>
          <a:prstGeom prst="rect">
            <a:avLst/>
          </a:prstGeom>
          <a:noFill/>
          <a:ln/>
        </p:spPr>
        <p:txBody>
          <a:bodyPr wrap="square" lIns="0" tIns="0" rIns="0" bIns="0" rtlCol="0" anchor="ctr"/>
          <a:lstStyle/>
          <a:p>
            <a:pPr marL="0" indent="0">
              <a:buNone/>
            </a:pPr>
            <a:r>
              <a:rPr lang="en-US" sz="1600" b="1" dirty="0">
                <a:solidFill>
                  <a:srgbClr val="0C7C84"/>
                </a:solidFill>
                <a:latin typeface="Trebuchet MS" pitchFamily="34" charset="0"/>
                <a:ea typeface="Trebuchet MS" pitchFamily="34" charset="-122"/>
                <a:cs typeface="Trebuchet MS" pitchFamily="34" charset="-120"/>
              </a:rPr>
              <a:t>The Problem</a:t>
            </a:r>
            <a:endParaRPr lang="en-US" sz="1600" dirty="0"/>
          </a:p>
        </p:txBody>
      </p:sp>
      <p:sp>
        <p:nvSpPr>
          <p:cNvPr id="6" name="Text 4"/>
          <p:cNvSpPr/>
          <p:nvPr/>
        </p:nvSpPr>
        <p:spPr>
          <a:xfrm>
            <a:off x="457200" y="1234440"/>
            <a:ext cx="3931920" cy="22860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3B5068"/>
                </a:solidFill>
                <a:latin typeface="Calibri" pitchFamily="34" charset="0"/>
                <a:ea typeface="Calibri" pitchFamily="34" charset="-122"/>
                <a:cs typeface="Calibri" pitchFamily="34" charset="-120"/>
              </a:rPr>
              <a:t>AI adoption lags behind capability — the bottleneck is human trust, not algorithm accuracy</a:t>
            </a:r>
            <a:endParaRPr lang="en-US" sz="1100" dirty="0"/>
          </a:p>
          <a:p>
            <a:pPr marL="342900" indent="-342900">
              <a:spcAft>
                <a:spcPts val="600"/>
              </a:spcAft>
              <a:buSzPct val="100000"/>
              <a:buChar char="•"/>
            </a:pPr>
            <a:r>
              <a:rPr lang="en-US" sz="1100" dirty="0">
                <a:solidFill>
                  <a:srgbClr val="3B5068"/>
                </a:solidFill>
                <a:latin typeface="Calibri" pitchFamily="34" charset="0"/>
                <a:ea typeface="Calibri" pitchFamily="34" charset="-122"/>
                <a:cs typeface="Calibri" pitchFamily="34" charset="-120"/>
              </a:rPr>
              <a:t>Black-box AI creates a gap between what AI knows and what users believe</a:t>
            </a:r>
            <a:endParaRPr lang="en-US" sz="1100" dirty="0"/>
          </a:p>
          <a:p>
            <a:pPr marL="342900" indent="-342900">
              <a:spcAft>
                <a:spcPts val="600"/>
              </a:spcAft>
              <a:buSzPct val="100000"/>
              <a:buChar char="•"/>
            </a:pPr>
            <a:r>
              <a:rPr lang="en-US" sz="1100" dirty="0">
                <a:solidFill>
                  <a:srgbClr val="3B5068"/>
                </a:solidFill>
                <a:latin typeface="Calibri" pitchFamily="34" charset="0"/>
                <a:ea typeface="Calibri" pitchFamily="34" charset="-122"/>
                <a:cs typeface="Calibri" pitchFamily="34" charset="-120"/>
              </a:rPr>
              <a:t>Existing research measures F1 scores — not human behavioral response</a:t>
            </a:r>
            <a:endParaRPr lang="en-US" sz="1100" dirty="0"/>
          </a:p>
          <a:p>
            <a:pPr marL="342900" indent="-342900">
              <a:spcAft>
                <a:spcPts val="600"/>
              </a:spcAft>
              <a:buSzPct val="100000"/>
              <a:buChar char="•"/>
            </a:pPr>
            <a:r>
              <a:rPr lang="en-US" sz="1100" dirty="0">
                <a:solidFill>
                  <a:srgbClr val="3B5068"/>
                </a:solidFill>
                <a:latin typeface="Calibri" pitchFamily="34" charset="0"/>
                <a:ea typeface="Calibri" pitchFamily="34" charset="-122"/>
                <a:cs typeface="Calibri" pitchFamily="34" charset="-120"/>
              </a:rPr>
              <a:t>A new "science of human-AI decision-making" is needed (Wen et al., 2025; Lai et al., 2023)</a:t>
            </a:r>
            <a:endParaRPr lang="en-US" sz="1100" dirty="0"/>
          </a:p>
        </p:txBody>
      </p:sp>
      <p:sp>
        <p:nvSpPr>
          <p:cNvPr id="7" name="Shape 5"/>
          <p:cNvSpPr/>
          <p:nvPr/>
        </p:nvSpPr>
        <p:spPr>
          <a:xfrm>
            <a:off x="4754880" y="868680"/>
            <a:ext cx="3931920" cy="384048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4754880" y="868680"/>
            <a:ext cx="3931920" cy="45720"/>
          </a:xfrm>
          <a:prstGeom prst="rect">
            <a:avLst/>
          </a:prstGeom>
          <a:solidFill>
            <a:srgbClr val="E8833A"/>
          </a:solidFill>
          <a:ln/>
        </p:spPr>
        <p:txBody>
          <a:bodyPr/>
          <a:lstStyle/>
          <a:p>
            <a:endParaRPr lang="en-US"/>
          </a:p>
        </p:txBody>
      </p:sp>
      <p:sp>
        <p:nvSpPr>
          <p:cNvPr id="9" name="Text 7"/>
          <p:cNvSpPr/>
          <p:nvPr/>
        </p:nvSpPr>
        <p:spPr>
          <a:xfrm>
            <a:off x="5029200" y="1051560"/>
            <a:ext cx="3383280" cy="320040"/>
          </a:xfrm>
          <a:prstGeom prst="rect">
            <a:avLst/>
          </a:prstGeom>
          <a:noFill/>
          <a:ln/>
        </p:spPr>
        <p:txBody>
          <a:bodyPr wrap="square" lIns="0" tIns="0" rIns="0" bIns="0" rtlCol="0" anchor="ctr"/>
          <a:lstStyle/>
          <a:p>
            <a:pPr marL="0" indent="0">
              <a:buNone/>
            </a:pPr>
            <a:r>
              <a:rPr lang="en-US" sz="1600" b="1" dirty="0">
                <a:solidFill>
                  <a:srgbClr val="E8833A"/>
                </a:solidFill>
                <a:latin typeface="Trebuchet MS" pitchFamily="34" charset="0"/>
                <a:ea typeface="Trebuchet MS" pitchFamily="34" charset="-122"/>
                <a:cs typeface="Trebuchet MS" pitchFamily="34" charset="-120"/>
              </a:rPr>
              <a:t>The WoA Framework</a:t>
            </a:r>
            <a:endParaRPr lang="en-US" sz="1600" dirty="0"/>
          </a:p>
        </p:txBody>
      </p:sp>
      <p:sp>
        <p:nvSpPr>
          <p:cNvPr id="10" name="Text 8"/>
          <p:cNvSpPr/>
          <p:nvPr/>
        </p:nvSpPr>
        <p:spPr>
          <a:xfrm>
            <a:off x="5029200" y="1417320"/>
            <a:ext cx="3383280" cy="502920"/>
          </a:xfrm>
          <a:prstGeom prst="rect">
            <a:avLst/>
          </a:prstGeom>
          <a:noFill/>
          <a:ln/>
        </p:spPr>
        <p:txBody>
          <a:bodyPr wrap="square" lIns="0" tIns="0" rIns="0" bIns="0" rtlCol="0" anchor="ctr"/>
          <a:lstStyle/>
          <a:p>
            <a:pPr marL="0" indent="0">
              <a:lnSpc>
                <a:spcPct val="130000"/>
              </a:lnSpc>
              <a:buNone/>
            </a:pPr>
            <a:r>
              <a:rPr lang="en-US" sz="1050" dirty="0">
                <a:solidFill>
                  <a:srgbClr val="3B5068"/>
                </a:solidFill>
                <a:latin typeface="Calibri" pitchFamily="34" charset="0"/>
                <a:ea typeface="Calibri" pitchFamily="34" charset="-122"/>
                <a:cs typeface="Calibri" pitchFamily="34" charset="-120"/>
              </a:rPr>
              <a:t>Weight of Advice measures how much a person actually updates their decision after receiving AI advice.</a:t>
            </a:r>
            <a:endParaRPr lang="en-US" sz="1050" dirty="0"/>
          </a:p>
        </p:txBody>
      </p:sp>
      <p:sp>
        <p:nvSpPr>
          <p:cNvPr id="11" name="Shape 9"/>
          <p:cNvSpPr/>
          <p:nvPr/>
        </p:nvSpPr>
        <p:spPr>
          <a:xfrm>
            <a:off x="5120640" y="2011680"/>
            <a:ext cx="3200400" cy="502920"/>
          </a:xfrm>
          <a:prstGeom prst="rect">
            <a:avLst/>
          </a:prstGeom>
          <a:solidFill>
            <a:srgbClr val="EEF2F7"/>
          </a:solidFill>
          <a:ln/>
        </p:spPr>
        <p:txBody>
          <a:bodyPr/>
          <a:lstStyle/>
          <a:p>
            <a:endParaRPr lang="en-US"/>
          </a:p>
        </p:txBody>
      </p:sp>
      <p:sp>
        <p:nvSpPr>
          <p:cNvPr id="12" name="Text 10"/>
          <p:cNvSpPr/>
          <p:nvPr/>
        </p:nvSpPr>
        <p:spPr>
          <a:xfrm>
            <a:off x="5120640" y="2011680"/>
            <a:ext cx="3200400" cy="502920"/>
          </a:xfrm>
          <a:prstGeom prst="rect">
            <a:avLst/>
          </a:prstGeom>
          <a:noFill/>
          <a:ln/>
        </p:spPr>
        <p:txBody>
          <a:bodyPr wrap="square" rtlCol="0" anchor="ctr"/>
          <a:lstStyle/>
          <a:p>
            <a:pPr marL="0" indent="0" algn="ctr">
              <a:buNone/>
            </a:pPr>
            <a:r>
              <a:rPr lang="en-US" sz="1200" b="1" dirty="0">
                <a:solidFill>
                  <a:srgbClr val="1E3A5F"/>
                </a:solidFill>
                <a:latin typeface="Consolas" pitchFamily="34" charset="0"/>
                <a:ea typeface="Consolas" pitchFamily="34" charset="-122"/>
                <a:cs typeface="Consolas" pitchFamily="34" charset="-120"/>
              </a:rPr>
              <a:t>WoA  =  (Final − Initial) / (AI Score − Initial)</a:t>
            </a:r>
            <a:endParaRPr lang="en-US" sz="1200" dirty="0"/>
          </a:p>
        </p:txBody>
      </p:sp>
      <p:sp>
        <p:nvSpPr>
          <p:cNvPr id="13" name="Text 11"/>
          <p:cNvSpPr/>
          <p:nvPr/>
        </p:nvSpPr>
        <p:spPr>
          <a:xfrm>
            <a:off x="5120640" y="2697480"/>
            <a:ext cx="1188720" cy="320040"/>
          </a:xfrm>
          <a:prstGeom prst="rect">
            <a:avLst/>
          </a:prstGeom>
          <a:noFill/>
          <a:ln/>
        </p:spPr>
        <p:txBody>
          <a:bodyPr wrap="square" lIns="0" tIns="0" rIns="0" bIns="0" rtlCol="0" anchor="ctr"/>
          <a:lstStyle/>
          <a:p>
            <a:pPr marL="0" indent="0">
              <a:buNone/>
            </a:pPr>
            <a:r>
              <a:rPr lang="en-US" sz="1100" b="1" dirty="0">
                <a:solidFill>
                  <a:srgbClr val="0C7C84"/>
                </a:solidFill>
                <a:latin typeface="Consolas" pitchFamily="34" charset="0"/>
                <a:ea typeface="Consolas" pitchFamily="34" charset="-122"/>
                <a:cs typeface="Consolas" pitchFamily="34" charset="-120"/>
              </a:rPr>
              <a:t>WoA = 0</a:t>
            </a:r>
            <a:endParaRPr lang="en-US" sz="1100" dirty="0"/>
          </a:p>
        </p:txBody>
      </p:sp>
      <p:sp>
        <p:nvSpPr>
          <p:cNvPr id="14" name="Text 12"/>
          <p:cNvSpPr/>
          <p:nvPr/>
        </p:nvSpPr>
        <p:spPr>
          <a:xfrm>
            <a:off x="6400800" y="2697480"/>
            <a:ext cx="2011680" cy="320040"/>
          </a:xfrm>
          <a:prstGeom prst="rect">
            <a:avLst/>
          </a:prstGeom>
          <a:noFill/>
          <a:ln/>
        </p:spPr>
        <p:txBody>
          <a:bodyPr wrap="square" lIns="0" tIns="0" rIns="0" bIns="0" rtlCol="0" anchor="ctr"/>
          <a:lstStyle/>
          <a:p>
            <a:pPr marL="0" indent="0">
              <a:buNone/>
            </a:pPr>
            <a:r>
              <a:rPr lang="en-US" sz="1050" dirty="0">
                <a:solidFill>
                  <a:srgbClr val="3B5068"/>
                </a:solidFill>
                <a:latin typeface="Calibri" pitchFamily="34" charset="0"/>
                <a:ea typeface="Calibri" pitchFamily="34" charset="-122"/>
                <a:cs typeface="Calibri" pitchFamily="34" charset="-120"/>
              </a:rPr>
              <a:t>Completely ignored AI</a:t>
            </a:r>
            <a:endParaRPr lang="en-US" sz="1050" dirty="0"/>
          </a:p>
        </p:txBody>
      </p:sp>
      <p:sp>
        <p:nvSpPr>
          <p:cNvPr id="15" name="Text 13"/>
          <p:cNvSpPr/>
          <p:nvPr/>
        </p:nvSpPr>
        <p:spPr>
          <a:xfrm>
            <a:off x="5120640" y="3081528"/>
            <a:ext cx="1188720" cy="320040"/>
          </a:xfrm>
          <a:prstGeom prst="rect">
            <a:avLst/>
          </a:prstGeom>
          <a:noFill/>
          <a:ln/>
        </p:spPr>
        <p:txBody>
          <a:bodyPr wrap="square" lIns="0" tIns="0" rIns="0" bIns="0" rtlCol="0" anchor="ctr"/>
          <a:lstStyle/>
          <a:p>
            <a:pPr marL="0" indent="0">
              <a:buNone/>
            </a:pPr>
            <a:r>
              <a:rPr lang="en-US" sz="1100" b="1" dirty="0">
                <a:solidFill>
                  <a:srgbClr val="0C7C84"/>
                </a:solidFill>
                <a:latin typeface="Consolas" pitchFamily="34" charset="0"/>
                <a:ea typeface="Consolas" pitchFamily="34" charset="-122"/>
                <a:cs typeface="Consolas" pitchFamily="34" charset="-120"/>
              </a:rPr>
              <a:t>WoA = 0.5</a:t>
            </a:r>
            <a:endParaRPr lang="en-US" sz="1100" dirty="0"/>
          </a:p>
        </p:txBody>
      </p:sp>
      <p:sp>
        <p:nvSpPr>
          <p:cNvPr id="16" name="Text 14"/>
          <p:cNvSpPr/>
          <p:nvPr/>
        </p:nvSpPr>
        <p:spPr>
          <a:xfrm>
            <a:off x="6400800" y="3081528"/>
            <a:ext cx="2011680" cy="320040"/>
          </a:xfrm>
          <a:prstGeom prst="rect">
            <a:avLst/>
          </a:prstGeom>
          <a:noFill/>
          <a:ln/>
        </p:spPr>
        <p:txBody>
          <a:bodyPr wrap="square" lIns="0" tIns="0" rIns="0" bIns="0" rtlCol="0" anchor="ctr"/>
          <a:lstStyle/>
          <a:p>
            <a:pPr marL="0" indent="0">
              <a:buNone/>
            </a:pPr>
            <a:r>
              <a:rPr lang="en-US" sz="1050" dirty="0">
                <a:solidFill>
                  <a:srgbClr val="3B5068"/>
                </a:solidFill>
                <a:latin typeface="Calibri" pitchFamily="34" charset="0"/>
                <a:ea typeface="Calibri" pitchFamily="34" charset="-122"/>
                <a:cs typeface="Calibri" pitchFamily="34" charset="-120"/>
              </a:rPr>
              <a:t>Split the difference equally</a:t>
            </a:r>
            <a:endParaRPr lang="en-US" sz="1050" dirty="0"/>
          </a:p>
        </p:txBody>
      </p:sp>
      <p:sp>
        <p:nvSpPr>
          <p:cNvPr id="17" name="Text 15"/>
          <p:cNvSpPr/>
          <p:nvPr/>
        </p:nvSpPr>
        <p:spPr>
          <a:xfrm>
            <a:off x="5120640" y="3465576"/>
            <a:ext cx="1188720" cy="320040"/>
          </a:xfrm>
          <a:prstGeom prst="rect">
            <a:avLst/>
          </a:prstGeom>
          <a:noFill/>
          <a:ln/>
        </p:spPr>
        <p:txBody>
          <a:bodyPr wrap="square" lIns="0" tIns="0" rIns="0" bIns="0" rtlCol="0" anchor="ctr"/>
          <a:lstStyle/>
          <a:p>
            <a:pPr marL="0" indent="0">
              <a:buNone/>
            </a:pPr>
            <a:r>
              <a:rPr lang="en-US" sz="1100" b="1" dirty="0">
                <a:solidFill>
                  <a:srgbClr val="0C7C84"/>
                </a:solidFill>
                <a:latin typeface="Consolas" pitchFamily="34" charset="0"/>
                <a:ea typeface="Consolas" pitchFamily="34" charset="-122"/>
                <a:cs typeface="Consolas" pitchFamily="34" charset="-120"/>
              </a:rPr>
              <a:t>WoA = 1</a:t>
            </a:r>
            <a:endParaRPr lang="en-US" sz="1100" dirty="0"/>
          </a:p>
        </p:txBody>
      </p:sp>
      <p:sp>
        <p:nvSpPr>
          <p:cNvPr id="18" name="Text 16"/>
          <p:cNvSpPr/>
          <p:nvPr/>
        </p:nvSpPr>
        <p:spPr>
          <a:xfrm>
            <a:off x="6400800" y="3465576"/>
            <a:ext cx="2011680" cy="320040"/>
          </a:xfrm>
          <a:prstGeom prst="rect">
            <a:avLst/>
          </a:prstGeom>
          <a:noFill/>
          <a:ln/>
        </p:spPr>
        <p:txBody>
          <a:bodyPr wrap="square" lIns="0" tIns="0" rIns="0" bIns="0" rtlCol="0" anchor="ctr"/>
          <a:lstStyle/>
          <a:p>
            <a:pPr marL="0" indent="0">
              <a:buNone/>
            </a:pPr>
            <a:r>
              <a:rPr lang="en-US" sz="1050" dirty="0">
                <a:solidFill>
                  <a:srgbClr val="3B5068"/>
                </a:solidFill>
                <a:latin typeface="Calibri" pitchFamily="34" charset="0"/>
                <a:ea typeface="Calibri" pitchFamily="34" charset="-122"/>
                <a:cs typeface="Calibri" pitchFamily="34" charset="-120"/>
              </a:rPr>
              <a:t>Fully adopted AI advice</a:t>
            </a:r>
            <a:endParaRPr lang="en-US" sz="1050" dirty="0"/>
          </a:p>
        </p:txBody>
      </p:sp>
      <p:sp>
        <p:nvSpPr>
          <p:cNvPr id="19" name="Shape 17"/>
          <p:cNvSpPr/>
          <p:nvPr/>
        </p:nvSpPr>
        <p:spPr>
          <a:xfrm>
            <a:off x="5029200" y="3840480"/>
            <a:ext cx="3474720" cy="685800"/>
          </a:xfrm>
          <a:prstGeom prst="rect">
            <a:avLst/>
          </a:prstGeom>
          <a:solidFill>
            <a:srgbClr val="1A2744"/>
          </a:solidFill>
          <a:ln/>
        </p:spPr>
        <p:txBody>
          <a:bodyPr/>
          <a:lstStyle/>
          <a:p>
            <a:endParaRPr lang="en-US"/>
          </a:p>
        </p:txBody>
      </p:sp>
      <p:sp>
        <p:nvSpPr>
          <p:cNvPr id="20" name="Text 18"/>
          <p:cNvSpPr/>
          <p:nvPr/>
        </p:nvSpPr>
        <p:spPr>
          <a:xfrm>
            <a:off x="5120640" y="3858768"/>
            <a:ext cx="3291840" cy="640080"/>
          </a:xfrm>
          <a:prstGeom prst="rect">
            <a:avLst/>
          </a:prstGeom>
          <a:noFill/>
          <a:ln/>
        </p:spPr>
        <p:txBody>
          <a:bodyPr wrap="square" rtlCol="0" anchor="ctr"/>
          <a:lstStyle/>
          <a:p>
            <a:pPr marL="0" indent="0">
              <a:lnSpc>
                <a:spcPct val="130000"/>
              </a:lnSpc>
              <a:buNone/>
            </a:pPr>
            <a:r>
              <a:rPr lang="en-US" sz="1000" i="1" dirty="0">
                <a:solidFill>
                  <a:srgbClr val="FFFFFF"/>
                </a:solidFill>
                <a:latin typeface="Calibri" pitchFamily="34" charset="0"/>
                <a:ea typeface="Calibri" pitchFamily="34" charset="-122"/>
                <a:cs typeface="Calibri" pitchFamily="34" charset="-120"/>
              </a:rPr>
              <a:t>RQ: Does higher AI explanation transparency lead to higher trust — and does trust change behavior?</a:t>
            </a:r>
            <a:endParaRPr lang="en-US" sz="1000" dirty="0"/>
          </a:p>
        </p:txBody>
      </p:sp>
      <p:sp>
        <p:nvSpPr>
          <p:cNvPr id="21" name="Shape 19"/>
          <p:cNvSpPr/>
          <p:nvPr/>
        </p:nvSpPr>
        <p:spPr>
          <a:xfrm>
            <a:off x="0" y="4892040"/>
            <a:ext cx="9144000" cy="256032"/>
          </a:xfrm>
          <a:prstGeom prst="rect">
            <a:avLst/>
          </a:prstGeom>
          <a:solidFill>
            <a:srgbClr val="1A2744"/>
          </a:solidFill>
          <a:ln/>
        </p:spPr>
        <p:txBody>
          <a:bodyPr/>
          <a:lstStyle/>
          <a:p>
            <a:endParaRPr lang="en-US"/>
          </a:p>
        </p:txBody>
      </p:sp>
      <p:sp>
        <p:nvSpPr>
          <p:cNvPr id="22" name="Text 20"/>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C7C84"/>
          </a:solidFill>
          <a:ln/>
        </p:spPr>
        <p:txBody>
          <a:bodyPr/>
          <a:lstStyle/>
          <a:p>
            <a:endParaRPr lang="en-US"/>
          </a:p>
        </p:txBody>
      </p:sp>
      <p:sp>
        <p:nvSpPr>
          <p:cNvPr id="3" name="Text 1"/>
          <p:cNvSpPr/>
          <p:nvPr/>
        </p:nvSpPr>
        <p:spPr>
          <a:xfrm>
            <a:off x="457200" y="228600"/>
            <a:ext cx="548640" cy="457200"/>
          </a:xfrm>
          <a:prstGeom prst="rect">
            <a:avLst/>
          </a:prstGeom>
          <a:noFill/>
          <a:ln/>
        </p:spPr>
        <p:txBody>
          <a:bodyPr wrap="square" lIns="0" tIns="0" rIns="0" bIns="0" rtlCol="0" anchor="ctr"/>
          <a:lstStyle/>
          <a:p>
            <a:pPr marL="0" indent="0">
              <a:buNone/>
            </a:pPr>
            <a:r>
              <a:rPr lang="en-US" sz="2800" b="1" dirty="0">
                <a:solidFill>
                  <a:srgbClr val="0C7C84"/>
                </a:solidFill>
                <a:latin typeface="Trebuchet MS" pitchFamily="34" charset="0"/>
                <a:ea typeface="Trebuchet MS" pitchFamily="34" charset="-122"/>
                <a:cs typeface="Trebuchet MS" pitchFamily="34" charset="-120"/>
              </a:rPr>
              <a:t>03</a:t>
            </a:r>
            <a:endParaRPr lang="en-US" sz="2800" dirty="0"/>
          </a:p>
        </p:txBody>
      </p:sp>
      <p:sp>
        <p:nvSpPr>
          <p:cNvPr id="4" name="Text 2"/>
          <p:cNvSpPr/>
          <p:nvPr/>
        </p:nvSpPr>
        <p:spPr>
          <a:xfrm>
            <a:off x="1051560" y="256032"/>
            <a:ext cx="4572000" cy="411480"/>
          </a:xfrm>
          <a:prstGeom prst="rect">
            <a:avLst/>
          </a:prstGeom>
          <a:noFill/>
          <a:ln/>
        </p:spPr>
        <p:txBody>
          <a:bodyPr wrap="square" lIns="0" tIns="0" rIns="0" bIns="0" rtlCol="0" anchor="ctr"/>
          <a:lstStyle/>
          <a:p>
            <a:pPr marL="0" indent="0">
              <a:buNone/>
            </a:pPr>
            <a:r>
              <a:rPr lang="en-US" sz="2200" b="1" dirty="0">
                <a:solidFill>
                  <a:srgbClr val="1C2D41"/>
                </a:solidFill>
                <a:latin typeface="Trebuchet MS" pitchFamily="34" charset="0"/>
                <a:ea typeface="Trebuchet MS" pitchFamily="34" charset="-122"/>
                <a:cs typeface="Trebuchet MS" pitchFamily="34" charset="-120"/>
              </a:rPr>
              <a:t>Data &amp; Methodology</a:t>
            </a:r>
            <a:endParaRPr lang="en-US" sz="2200" dirty="0"/>
          </a:p>
        </p:txBody>
      </p:sp>
      <p:sp>
        <p:nvSpPr>
          <p:cNvPr id="5" name="Shape 3"/>
          <p:cNvSpPr/>
          <p:nvPr/>
        </p:nvSpPr>
        <p:spPr>
          <a:xfrm>
            <a:off x="457200" y="868680"/>
            <a:ext cx="393192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457200" y="868680"/>
            <a:ext cx="64008" cy="1828800"/>
          </a:xfrm>
          <a:prstGeom prst="rect">
            <a:avLst/>
          </a:prstGeom>
          <a:solidFill>
            <a:srgbClr val="0C7C84"/>
          </a:solidFill>
          <a:ln/>
        </p:spPr>
        <p:txBody>
          <a:bodyPr/>
          <a:lstStyle/>
          <a:p>
            <a:endParaRPr lang="en-US"/>
          </a:p>
        </p:txBody>
      </p:sp>
      <p:sp>
        <p:nvSpPr>
          <p:cNvPr id="7" name="Text 5"/>
          <p:cNvSpPr/>
          <p:nvPr/>
        </p:nvSpPr>
        <p:spPr>
          <a:xfrm>
            <a:off x="731520" y="960120"/>
            <a:ext cx="2743200" cy="274320"/>
          </a:xfrm>
          <a:prstGeom prst="rect">
            <a:avLst/>
          </a:prstGeom>
          <a:noFill/>
          <a:ln/>
        </p:spPr>
        <p:txBody>
          <a:bodyPr wrap="square" lIns="0" tIns="0" rIns="0" bIns="0" rtlCol="0" anchor="ctr"/>
          <a:lstStyle/>
          <a:p>
            <a:pPr marL="0" indent="0">
              <a:buNone/>
            </a:pPr>
            <a:r>
              <a:rPr lang="en-US" sz="1400" b="1" dirty="0">
                <a:solidFill>
                  <a:srgbClr val="0C7C84"/>
                </a:solidFill>
                <a:latin typeface="Trebuchet MS" pitchFamily="34" charset="0"/>
                <a:ea typeface="Trebuchet MS" pitchFamily="34" charset="-122"/>
                <a:cs typeface="Trebuchet MS" pitchFamily="34" charset="-120"/>
              </a:rPr>
              <a:t>Primary Dataset</a:t>
            </a:r>
            <a:endParaRPr lang="en-US" sz="1400" dirty="0"/>
          </a:p>
        </p:txBody>
      </p:sp>
      <p:sp>
        <p:nvSpPr>
          <p:cNvPr id="8" name="Text 6"/>
          <p:cNvSpPr/>
          <p:nvPr/>
        </p:nvSpPr>
        <p:spPr>
          <a:xfrm>
            <a:off x="2926080" y="960120"/>
            <a:ext cx="1280160" cy="274320"/>
          </a:xfrm>
          <a:prstGeom prst="rect">
            <a:avLst/>
          </a:prstGeom>
          <a:noFill/>
          <a:ln/>
        </p:spPr>
        <p:txBody>
          <a:bodyPr wrap="square" lIns="0" tIns="0" rIns="0" bIns="0" rtlCol="0" anchor="ctr"/>
          <a:lstStyle/>
          <a:p>
            <a:pPr marL="0" indent="0" algn="r">
              <a:buNone/>
            </a:pPr>
            <a:r>
              <a:rPr lang="en-US" sz="1400" b="1" dirty="0">
                <a:solidFill>
                  <a:srgbClr val="E8833A"/>
                </a:solidFill>
                <a:latin typeface="Trebuchet MS" pitchFamily="34" charset="0"/>
                <a:ea typeface="Trebuchet MS" pitchFamily="34" charset="-122"/>
                <a:cs typeface="Trebuchet MS" pitchFamily="34" charset="-120"/>
              </a:rPr>
              <a:t>1,000 × 23</a:t>
            </a:r>
            <a:endParaRPr lang="en-US" sz="1400" dirty="0"/>
          </a:p>
        </p:txBody>
      </p:sp>
      <p:sp>
        <p:nvSpPr>
          <p:cNvPr id="9" name="Text 7"/>
          <p:cNvSpPr/>
          <p:nvPr/>
        </p:nvSpPr>
        <p:spPr>
          <a:xfrm>
            <a:off x="731520" y="1325880"/>
            <a:ext cx="347472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3B5068"/>
                </a:solidFill>
                <a:latin typeface="Calibri" pitchFamily="34" charset="0"/>
                <a:ea typeface="Calibri" pitchFamily="34" charset="-122"/>
                <a:cs typeface="Calibri" pitchFamily="34" charset="-120"/>
              </a:rPr>
              <a:t>AI model outputs + user trust scores + skepticism categories</a:t>
            </a:r>
            <a:endParaRPr lang="en-US" sz="1000" dirty="0"/>
          </a:p>
          <a:p>
            <a:pPr marL="342900" indent="-342900">
              <a:spcAft>
                <a:spcPts val="400"/>
              </a:spcAft>
              <a:buSzPct val="100000"/>
              <a:buChar char="•"/>
            </a:pPr>
            <a:r>
              <a:rPr lang="en-US" sz="1000" dirty="0">
                <a:solidFill>
                  <a:srgbClr val="3B5068"/>
                </a:solidFill>
                <a:latin typeface="Calibri" pitchFamily="34" charset="0"/>
                <a:ea typeface="Calibri" pitchFamily="34" charset="-122"/>
                <a:cs typeface="Calibri" pitchFamily="34" charset="-120"/>
              </a:rPr>
              <a:t>Engineered: Explanation Transparency Score (composite of 5 features: confidence %, cited sources, hedging words, disclaimer, detail level)</a:t>
            </a:r>
            <a:endParaRPr lang="en-US" sz="1000" dirty="0"/>
          </a:p>
        </p:txBody>
      </p:sp>
      <p:sp>
        <p:nvSpPr>
          <p:cNvPr id="10" name="Shape 8"/>
          <p:cNvSpPr/>
          <p:nvPr/>
        </p:nvSpPr>
        <p:spPr>
          <a:xfrm>
            <a:off x="4754880" y="868680"/>
            <a:ext cx="3931920" cy="182880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4754880" y="868680"/>
            <a:ext cx="64008" cy="1828800"/>
          </a:xfrm>
          <a:prstGeom prst="rect">
            <a:avLst/>
          </a:prstGeom>
          <a:solidFill>
            <a:srgbClr val="E8833A"/>
          </a:solidFill>
          <a:ln/>
        </p:spPr>
        <p:txBody>
          <a:bodyPr/>
          <a:lstStyle/>
          <a:p>
            <a:endParaRPr lang="en-US"/>
          </a:p>
        </p:txBody>
      </p:sp>
      <p:sp>
        <p:nvSpPr>
          <p:cNvPr id="12" name="Text 10"/>
          <p:cNvSpPr/>
          <p:nvPr/>
        </p:nvSpPr>
        <p:spPr>
          <a:xfrm>
            <a:off x="5029200" y="960120"/>
            <a:ext cx="2743200" cy="274320"/>
          </a:xfrm>
          <a:prstGeom prst="rect">
            <a:avLst/>
          </a:prstGeom>
          <a:noFill/>
          <a:ln/>
        </p:spPr>
        <p:txBody>
          <a:bodyPr wrap="square" lIns="0" tIns="0" rIns="0" bIns="0" rtlCol="0" anchor="ctr"/>
          <a:lstStyle/>
          <a:p>
            <a:pPr marL="0" indent="0">
              <a:buNone/>
            </a:pPr>
            <a:r>
              <a:rPr lang="en-US" sz="1400" b="1" dirty="0">
                <a:solidFill>
                  <a:srgbClr val="E8833A"/>
                </a:solidFill>
                <a:latin typeface="Trebuchet MS" pitchFamily="34" charset="0"/>
                <a:ea typeface="Trebuchet MS" pitchFamily="34" charset="-122"/>
                <a:cs typeface="Trebuchet MS" pitchFamily="34" charset="-120"/>
              </a:rPr>
              <a:t>Secondary Dataset</a:t>
            </a:r>
            <a:endParaRPr lang="en-US" sz="1400" dirty="0"/>
          </a:p>
        </p:txBody>
      </p:sp>
      <p:sp>
        <p:nvSpPr>
          <p:cNvPr id="13" name="Text 11"/>
          <p:cNvSpPr/>
          <p:nvPr/>
        </p:nvSpPr>
        <p:spPr>
          <a:xfrm>
            <a:off x="7223760" y="960120"/>
            <a:ext cx="1280160" cy="274320"/>
          </a:xfrm>
          <a:prstGeom prst="rect">
            <a:avLst/>
          </a:prstGeom>
          <a:noFill/>
          <a:ln/>
        </p:spPr>
        <p:txBody>
          <a:bodyPr wrap="square" lIns="0" tIns="0" rIns="0" bIns="0" rtlCol="0" anchor="ctr"/>
          <a:lstStyle/>
          <a:p>
            <a:pPr marL="0" indent="0" algn="r">
              <a:buNone/>
            </a:pPr>
            <a:r>
              <a:rPr lang="en-US" sz="1400" b="1" dirty="0">
                <a:solidFill>
                  <a:srgbClr val="0C7C84"/>
                </a:solidFill>
                <a:latin typeface="Trebuchet MS" pitchFamily="34" charset="0"/>
                <a:ea typeface="Trebuchet MS" pitchFamily="34" charset="-122"/>
                <a:cs typeface="Trebuchet MS" pitchFamily="34" charset="-120"/>
              </a:rPr>
              <a:t>526 × 158</a:t>
            </a:r>
            <a:endParaRPr lang="en-US" sz="1400" dirty="0"/>
          </a:p>
        </p:txBody>
      </p:sp>
      <p:sp>
        <p:nvSpPr>
          <p:cNvPr id="14" name="Text 12"/>
          <p:cNvSpPr/>
          <p:nvPr/>
        </p:nvSpPr>
        <p:spPr>
          <a:xfrm>
            <a:off x="5029200" y="1325880"/>
            <a:ext cx="347472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3B5068"/>
                </a:solidFill>
                <a:latin typeface="Calibri" pitchFamily="34" charset="0"/>
                <a:ea typeface="Calibri" pitchFamily="34" charset="-122"/>
                <a:cs typeface="Calibri" pitchFamily="34" charset="-120"/>
              </a:rPr>
              <a:t>SPSS experimental data (OSF repository) — lunar estimation task</a:t>
            </a:r>
            <a:endParaRPr lang="en-US" sz="1000" dirty="0"/>
          </a:p>
          <a:p>
            <a:pPr marL="342900" indent="-342900">
              <a:spcAft>
                <a:spcPts val="400"/>
              </a:spcAft>
              <a:buSzPct val="100000"/>
              <a:buChar char="•"/>
            </a:pPr>
            <a:r>
              <a:rPr lang="en-US" sz="1000" dirty="0">
                <a:solidFill>
                  <a:srgbClr val="3B5068"/>
                </a:solidFill>
                <a:latin typeface="Calibri" pitchFamily="34" charset="0"/>
                <a:ea typeface="Calibri" pitchFamily="34" charset="-122"/>
                <a:cs typeface="Calibri" pitchFamily="34" charset="-120"/>
              </a:rPr>
              <a:t>Computed: WoA + AITrust composite (5-item Likert scale)</a:t>
            </a:r>
            <a:endParaRPr lang="en-US" sz="1000" dirty="0"/>
          </a:p>
        </p:txBody>
      </p:sp>
      <p:sp>
        <p:nvSpPr>
          <p:cNvPr id="15" name="Text 13"/>
          <p:cNvSpPr/>
          <p:nvPr/>
        </p:nvSpPr>
        <p:spPr>
          <a:xfrm>
            <a:off x="457200" y="2880360"/>
            <a:ext cx="3657600" cy="320040"/>
          </a:xfrm>
          <a:prstGeom prst="rect">
            <a:avLst/>
          </a:prstGeom>
          <a:noFill/>
          <a:ln/>
        </p:spPr>
        <p:txBody>
          <a:bodyPr wrap="square" lIns="0" tIns="0" rIns="0" bIns="0" rtlCol="0" anchor="ctr"/>
          <a:lstStyle/>
          <a:p>
            <a:pPr marL="0" indent="0">
              <a:buNone/>
            </a:pPr>
            <a:r>
              <a:rPr lang="en-US" sz="1400" b="1" dirty="0">
                <a:solidFill>
                  <a:srgbClr val="1C2D41"/>
                </a:solidFill>
                <a:latin typeface="Trebuchet MS" pitchFamily="34" charset="0"/>
                <a:ea typeface="Trebuchet MS" pitchFamily="34" charset="-122"/>
                <a:cs typeface="Trebuchet MS" pitchFamily="34" charset="-120"/>
              </a:rPr>
              <a:t>Data Science Pipeline</a:t>
            </a:r>
            <a:endParaRPr lang="en-US" sz="1400" dirty="0"/>
          </a:p>
        </p:txBody>
      </p:sp>
      <p:sp>
        <p:nvSpPr>
          <p:cNvPr id="16" name="Shape 14"/>
          <p:cNvSpPr/>
          <p:nvPr/>
        </p:nvSpPr>
        <p:spPr>
          <a:xfrm>
            <a:off x="457200" y="3291840"/>
            <a:ext cx="1554480" cy="1417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457200" y="3291840"/>
            <a:ext cx="1554480" cy="45720"/>
          </a:xfrm>
          <a:prstGeom prst="rect">
            <a:avLst/>
          </a:prstGeom>
          <a:solidFill>
            <a:srgbClr val="0C7C84"/>
          </a:solidFill>
          <a:ln/>
        </p:spPr>
        <p:txBody>
          <a:bodyPr/>
          <a:lstStyle/>
          <a:p>
            <a:endParaRPr lang="en-US"/>
          </a:p>
        </p:txBody>
      </p:sp>
      <p:sp>
        <p:nvSpPr>
          <p:cNvPr id="18" name="Shape 16"/>
          <p:cNvSpPr/>
          <p:nvPr/>
        </p:nvSpPr>
        <p:spPr>
          <a:xfrm>
            <a:off x="1051560" y="3429000"/>
            <a:ext cx="365760" cy="365760"/>
          </a:xfrm>
          <a:prstGeom prst="ellipse">
            <a:avLst/>
          </a:prstGeom>
          <a:solidFill>
            <a:srgbClr val="0C7C84"/>
          </a:solidFill>
          <a:ln/>
        </p:spPr>
        <p:txBody>
          <a:bodyPr/>
          <a:lstStyle/>
          <a:p>
            <a:endParaRPr lang="en-US"/>
          </a:p>
        </p:txBody>
      </p:sp>
      <p:sp>
        <p:nvSpPr>
          <p:cNvPr id="19" name="Text 17"/>
          <p:cNvSpPr/>
          <p:nvPr/>
        </p:nvSpPr>
        <p:spPr>
          <a:xfrm>
            <a:off x="1051560" y="3429000"/>
            <a:ext cx="365760" cy="36576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20" name="Text 18"/>
          <p:cNvSpPr/>
          <p:nvPr/>
        </p:nvSpPr>
        <p:spPr>
          <a:xfrm>
            <a:off x="548640" y="3840480"/>
            <a:ext cx="1371600" cy="274320"/>
          </a:xfrm>
          <a:prstGeom prst="rect">
            <a:avLst/>
          </a:prstGeom>
          <a:noFill/>
          <a:ln/>
        </p:spPr>
        <p:txBody>
          <a:bodyPr wrap="square" lIns="0" tIns="0" rIns="0" bIns="0" rtlCol="0" anchor="ctr"/>
          <a:lstStyle/>
          <a:p>
            <a:pPr marL="0" indent="0" algn="ctr">
              <a:buNone/>
            </a:pPr>
            <a:r>
              <a:rPr lang="en-US" sz="1100" b="1" dirty="0">
                <a:solidFill>
                  <a:srgbClr val="1C2D41"/>
                </a:solidFill>
                <a:latin typeface="Trebuchet MS" pitchFamily="34" charset="0"/>
                <a:ea typeface="Trebuchet MS" pitchFamily="34" charset="-122"/>
                <a:cs typeface="Trebuchet MS" pitchFamily="34" charset="-120"/>
              </a:rPr>
              <a:t>Acquisition</a:t>
            </a:r>
            <a:endParaRPr lang="en-US" sz="1100" dirty="0"/>
          </a:p>
        </p:txBody>
      </p:sp>
      <p:sp>
        <p:nvSpPr>
          <p:cNvPr id="21" name="Text 19"/>
          <p:cNvSpPr/>
          <p:nvPr/>
        </p:nvSpPr>
        <p:spPr>
          <a:xfrm>
            <a:off x="548640" y="4114800"/>
            <a:ext cx="1371600" cy="502920"/>
          </a:xfrm>
          <a:prstGeom prst="rect">
            <a:avLst/>
          </a:prstGeom>
          <a:noFill/>
          <a:ln/>
        </p:spPr>
        <p:txBody>
          <a:bodyPr wrap="square" lIns="0" tIns="0" rIns="0" bIns="0" rtlCol="0" anchor="ctr"/>
          <a:lstStyle/>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CSV + SPSS via</a:t>
            </a:r>
            <a:endParaRPr lang="en-US" sz="850" dirty="0"/>
          </a:p>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pandas &amp; pyreadstat</a:t>
            </a:r>
            <a:endParaRPr lang="en-US" sz="850" dirty="0"/>
          </a:p>
        </p:txBody>
      </p:sp>
      <p:sp>
        <p:nvSpPr>
          <p:cNvPr id="22" name="Text 20"/>
          <p:cNvSpPr/>
          <p:nvPr/>
        </p:nvSpPr>
        <p:spPr>
          <a:xfrm>
            <a:off x="2011680" y="3749040"/>
            <a:ext cx="146304" cy="320040"/>
          </a:xfrm>
          <a:prstGeom prst="rect">
            <a:avLst/>
          </a:prstGeom>
          <a:noFill/>
          <a:ln/>
        </p:spPr>
        <p:txBody>
          <a:bodyPr wrap="square" rtlCol="0" anchor="ctr"/>
          <a:lstStyle/>
          <a:p>
            <a:pPr marL="0" indent="0" algn="ctr">
              <a:buNone/>
            </a:pPr>
            <a:r>
              <a:rPr lang="en-US" sz="1200" dirty="0">
                <a:solidFill>
                  <a:srgbClr val="0C7C84"/>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2121408" y="3291840"/>
            <a:ext cx="1554480" cy="1417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4" name="Shape 22"/>
          <p:cNvSpPr/>
          <p:nvPr/>
        </p:nvSpPr>
        <p:spPr>
          <a:xfrm>
            <a:off x="2121408" y="3291840"/>
            <a:ext cx="1554480" cy="45720"/>
          </a:xfrm>
          <a:prstGeom prst="rect">
            <a:avLst/>
          </a:prstGeom>
          <a:solidFill>
            <a:srgbClr val="E8833A"/>
          </a:solidFill>
          <a:ln/>
        </p:spPr>
        <p:txBody>
          <a:bodyPr/>
          <a:lstStyle/>
          <a:p>
            <a:endParaRPr lang="en-US"/>
          </a:p>
        </p:txBody>
      </p:sp>
      <p:sp>
        <p:nvSpPr>
          <p:cNvPr id="25" name="Shape 23"/>
          <p:cNvSpPr/>
          <p:nvPr/>
        </p:nvSpPr>
        <p:spPr>
          <a:xfrm>
            <a:off x="2715768" y="3429000"/>
            <a:ext cx="365760" cy="365760"/>
          </a:xfrm>
          <a:prstGeom prst="ellipse">
            <a:avLst/>
          </a:prstGeom>
          <a:solidFill>
            <a:srgbClr val="E8833A"/>
          </a:solidFill>
          <a:ln/>
        </p:spPr>
        <p:txBody>
          <a:bodyPr/>
          <a:lstStyle/>
          <a:p>
            <a:endParaRPr lang="en-US"/>
          </a:p>
        </p:txBody>
      </p:sp>
      <p:sp>
        <p:nvSpPr>
          <p:cNvPr id="26" name="Text 24"/>
          <p:cNvSpPr/>
          <p:nvPr/>
        </p:nvSpPr>
        <p:spPr>
          <a:xfrm>
            <a:off x="2715768" y="3429000"/>
            <a:ext cx="365760" cy="36576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27" name="Text 25"/>
          <p:cNvSpPr/>
          <p:nvPr/>
        </p:nvSpPr>
        <p:spPr>
          <a:xfrm>
            <a:off x="2212848" y="3840480"/>
            <a:ext cx="1371600" cy="274320"/>
          </a:xfrm>
          <a:prstGeom prst="rect">
            <a:avLst/>
          </a:prstGeom>
          <a:noFill/>
          <a:ln/>
        </p:spPr>
        <p:txBody>
          <a:bodyPr wrap="square" lIns="0" tIns="0" rIns="0" bIns="0" rtlCol="0" anchor="ctr"/>
          <a:lstStyle/>
          <a:p>
            <a:pPr marL="0" indent="0" algn="ctr">
              <a:buNone/>
            </a:pPr>
            <a:r>
              <a:rPr lang="en-US" sz="1100" b="1" dirty="0">
                <a:solidFill>
                  <a:srgbClr val="1C2D41"/>
                </a:solidFill>
                <a:latin typeface="Trebuchet MS" pitchFamily="34" charset="0"/>
                <a:ea typeface="Trebuchet MS" pitchFamily="34" charset="-122"/>
                <a:cs typeface="Trebuchet MS" pitchFamily="34" charset="-120"/>
              </a:rPr>
              <a:t>Preparation</a:t>
            </a:r>
            <a:endParaRPr lang="en-US" sz="1100" dirty="0"/>
          </a:p>
        </p:txBody>
      </p:sp>
      <p:sp>
        <p:nvSpPr>
          <p:cNvPr id="28" name="Text 26"/>
          <p:cNvSpPr/>
          <p:nvPr/>
        </p:nvSpPr>
        <p:spPr>
          <a:xfrm>
            <a:off x="2212848" y="4114800"/>
            <a:ext cx="1371600" cy="502920"/>
          </a:xfrm>
          <a:prstGeom prst="rect">
            <a:avLst/>
          </a:prstGeom>
          <a:noFill/>
          <a:ln/>
        </p:spPr>
        <p:txBody>
          <a:bodyPr wrap="square" lIns="0" tIns="0" rIns="0" bIns="0" rtlCol="0" anchor="ctr"/>
          <a:lstStyle/>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Missing values, outliers,</a:t>
            </a:r>
            <a:endParaRPr lang="en-US" sz="850" dirty="0"/>
          </a:p>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encoding &amp; scaling</a:t>
            </a:r>
            <a:endParaRPr lang="en-US" sz="850" dirty="0"/>
          </a:p>
        </p:txBody>
      </p:sp>
      <p:sp>
        <p:nvSpPr>
          <p:cNvPr id="29" name="Text 27"/>
          <p:cNvSpPr/>
          <p:nvPr/>
        </p:nvSpPr>
        <p:spPr>
          <a:xfrm>
            <a:off x="3675888" y="3749040"/>
            <a:ext cx="146304" cy="320040"/>
          </a:xfrm>
          <a:prstGeom prst="rect">
            <a:avLst/>
          </a:prstGeom>
          <a:noFill/>
          <a:ln/>
        </p:spPr>
        <p:txBody>
          <a:bodyPr wrap="square" rtlCol="0" anchor="ctr"/>
          <a:lstStyle/>
          <a:p>
            <a:pPr marL="0" indent="0" algn="ctr">
              <a:buNone/>
            </a:pPr>
            <a:r>
              <a:rPr lang="en-US" sz="1200" dirty="0">
                <a:solidFill>
                  <a:srgbClr val="0C7C84"/>
                </a:solidFill>
                <a:latin typeface="Calibri" pitchFamily="34" charset="0"/>
                <a:ea typeface="Calibri" pitchFamily="34" charset="-122"/>
                <a:cs typeface="Calibri" pitchFamily="34" charset="-120"/>
              </a:rPr>
              <a:t>►</a:t>
            </a:r>
            <a:endParaRPr lang="en-US" sz="1200" dirty="0"/>
          </a:p>
        </p:txBody>
      </p:sp>
      <p:sp>
        <p:nvSpPr>
          <p:cNvPr id="30" name="Shape 28"/>
          <p:cNvSpPr/>
          <p:nvPr/>
        </p:nvSpPr>
        <p:spPr>
          <a:xfrm>
            <a:off x="3785616" y="3291840"/>
            <a:ext cx="1554480" cy="1417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1" name="Shape 29"/>
          <p:cNvSpPr/>
          <p:nvPr/>
        </p:nvSpPr>
        <p:spPr>
          <a:xfrm>
            <a:off x="3785616" y="3291840"/>
            <a:ext cx="1554480" cy="45720"/>
          </a:xfrm>
          <a:prstGeom prst="rect">
            <a:avLst/>
          </a:prstGeom>
          <a:solidFill>
            <a:srgbClr val="0C7C84"/>
          </a:solidFill>
          <a:ln/>
        </p:spPr>
        <p:txBody>
          <a:bodyPr/>
          <a:lstStyle/>
          <a:p>
            <a:endParaRPr lang="en-US"/>
          </a:p>
        </p:txBody>
      </p:sp>
      <p:sp>
        <p:nvSpPr>
          <p:cNvPr id="32" name="Shape 30"/>
          <p:cNvSpPr/>
          <p:nvPr/>
        </p:nvSpPr>
        <p:spPr>
          <a:xfrm>
            <a:off x="4379976" y="3429000"/>
            <a:ext cx="365760" cy="365760"/>
          </a:xfrm>
          <a:prstGeom prst="ellipse">
            <a:avLst/>
          </a:prstGeom>
          <a:solidFill>
            <a:srgbClr val="0C7C84"/>
          </a:solidFill>
          <a:ln/>
        </p:spPr>
        <p:txBody>
          <a:bodyPr/>
          <a:lstStyle/>
          <a:p>
            <a:endParaRPr lang="en-US"/>
          </a:p>
        </p:txBody>
      </p:sp>
      <p:sp>
        <p:nvSpPr>
          <p:cNvPr id="33" name="Text 31"/>
          <p:cNvSpPr/>
          <p:nvPr/>
        </p:nvSpPr>
        <p:spPr>
          <a:xfrm>
            <a:off x="4379976" y="3429000"/>
            <a:ext cx="365760" cy="36576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34" name="Text 32"/>
          <p:cNvSpPr/>
          <p:nvPr/>
        </p:nvSpPr>
        <p:spPr>
          <a:xfrm>
            <a:off x="3877056" y="3840480"/>
            <a:ext cx="1371600" cy="274320"/>
          </a:xfrm>
          <a:prstGeom prst="rect">
            <a:avLst/>
          </a:prstGeom>
          <a:noFill/>
          <a:ln/>
        </p:spPr>
        <p:txBody>
          <a:bodyPr wrap="square" lIns="0" tIns="0" rIns="0" bIns="0" rtlCol="0" anchor="ctr"/>
          <a:lstStyle/>
          <a:p>
            <a:pPr marL="0" indent="0" algn="ctr">
              <a:buNone/>
            </a:pPr>
            <a:r>
              <a:rPr lang="en-US" sz="1100" b="1" dirty="0">
                <a:solidFill>
                  <a:srgbClr val="1C2D41"/>
                </a:solidFill>
                <a:latin typeface="Trebuchet MS" pitchFamily="34" charset="0"/>
                <a:ea typeface="Trebuchet MS" pitchFamily="34" charset="-122"/>
                <a:cs typeface="Trebuchet MS" pitchFamily="34" charset="-120"/>
              </a:rPr>
              <a:t>EDA</a:t>
            </a:r>
            <a:endParaRPr lang="en-US" sz="1100" dirty="0"/>
          </a:p>
        </p:txBody>
      </p:sp>
      <p:sp>
        <p:nvSpPr>
          <p:cNvPr id="35" name="Text 33"/>
          <p:cNvSpPr/>
          <p:nvPr/>
        </p:nvSpPr>
        <p:spPr>
          <a:xfrm>
            <a:off x="3877056" y="4114800"/>
            <a:ext cx="1371600" cy="502920"/>
          </a:xfrm>
          <a:prstGeom prst="rect">
            <a:avLst/>
          </a:prstGeom>
          <a:noFill/>
          <a:ln/>
        </p:spPr>
        <p:txBody>
          <a:bodyPr wrap="square" lIns="0" tIns="0" rIns="0" bIns="0" rtlCol="0" anchor="ctr"/>
          <a:lstStyle/>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Correlations, distributions,</a:t>
            </a:r>
            <a:endParaRPr lang="en-US" sz="850" dirty="0"/>
          </a:p>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transparency engineering</a:t>
            </a:r>
            <a:endParaRPr lang="en-US" sz="850" dirty="0"/>
          </a:p>
        </p:txBody>
      </p:sp>
      <p:sp>
        <p:nvSpPr>
          <p:cNvPr id="36" name="Text 34"/>
          <p:cNvSpPr/>
          <p:nvPr/>
        </p:nvSpPr>
        <p:spPr>
          <a:xfrm>
            <a:off x="5340096" y="3749040"/>
            <a:ext cx="146304" cy="320040"/>
          </a:xfrm>
          <a:prstGeom prst="rect">
            <a:avLst/>
          </a:prstGeom>
          <a:noFill/>
          <a:ln/>
        </p:spPr>
        <p:txBody>
          <a:bodyPr wrap="square" rtlCol="0" anchor="ctr"/>
          <a:lstStyle/>
          <a:p>
            <a:pPr marL="0" indent="0" algn="ctr">
              <a:buNone/>
            </a:pPr>
            <a:r>
              <a:rPr lang="en-US" sz="1200" dirty="0">
                <a:solidFill>
                  <a:srgbClr val="0C7C84"/>
                </a:solidFill>
                <a:latin typeface="Calibri" pitchFamily="34" charset="0"/>
                <a:ea typeface="Calibri" pitchFamily="34" charset="-122"/>
                <a:cs typeface="Calibri" pitchFamily="34" charset="-120"/>
              </a:rPr>
              <a:t>►</a:t>
            </a:r>
            <a:endParaRPr lang="en-US" sz="1200" dirty="0"/>
          </a:p>
        </p:txBody>
      </p:sp>
      <p:sp>
        <p:nvSpPr>
          <p:cNvPr id="37" name="Shape 35"/>
          <p:cNvSpPr/>
          <p:nvPr/>
        </p:nvSpPr>
        <p:spPr>
          <a:xfrm>
            <a:off x="5449824" y="3291840"/>
            <a:ext cx="1554480" cy="1417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38" name="Shape 36"/>
          <p:cNvSpPr/>
          <p:nvPr/>
        </p:nvSpPr>
        <p:spPr>
          <a:xfrm>
            <a:off x="5449824" y="3291840"/>
            <a:ext cx="1554480" cy="45720"/>
          </a:xfrm>
          <a:prstGeom prst="rect">
            <a:avLst/>
          </a:prstGeom>
          <a:solidFill>
            <a:srgbClr val="E8833A"/>
          </a:solidFill>
          <a:ln/>
        </p:spPr>
        <p:txBody>
          <a:bodyPr/>
          <a:lstStyle/>
          <a:p>
            <a:endParaRPr lang="en-US"/>
          </a:p>
        </p:txBody>
      </p:sp>
      <p:sp>
        <p:nvSpPr>
          <p:cNvPr id="39" name="Shape 37"/>
          <p:cNvSpPr/>
          <p:nvPr/>
        </p:nvSpPr>
        <p:spPr>
          <a:xfrm>
            <a:off x="6044184" y="3429000"/>
            <a:ext cx="365760" cy="365760"/>
          </a:xfrm>
          <a:prstGeom prst="ellipse">
            <a:avLst/>
          </a:prstGeom>
          <a:solidFill>
            <a:srgbClr val="E8833A"/>
          </a:solidFill>
          <a:ln/>
        </p:spPr>
        <p:txBody>
          <a:bodyPr/>
          <a:lstStyle/>
          <a:p>
            <a:endParaRPr lang="en-US"/>
          </a:p>
        </p:txBody>
      </p:sp>
      <p:sp>
        <p:nvSpPr>
          <p:cNvPr id="40" name="Text 38"/>
          <p:cNvSpPr/>
          <p:nvPr/>
        </p:nvSpPr>
        <p:spPr>
          <a:xfrm>
            <a:off x="6044184" y="3429000"/>
            <a:ext cx="365760" cy="36576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41" name="Text 39"/>
          <p:cNvSpPr/>
          <p:nvPr/>
        </p:nvSpPr>
        <p:spPr>
          <a:xfrm>
            <a:off x="5541264" y="3840480"/>
            <a:ext cx="1371600" cy="274320"/>
          </a:xfrm>
          <a:prstGeom prst="rect">
            <a:avLst/>
          </a:prstGeom>
          <a:noFill/>
          <a:ln/>
        </p:spPr>
        <p:txBody>
          <a:bodyPr wrap="square" lIns="0" tIns="0" rIns="0" bIns="0" rtlCol="0" anchor="ctr"/>
          <a:lstStyle/>
          <a:p>
            <a:pPr marL="0" indent="0" algn="ctr">
              <a:buNone/>
            </a:pPr>
            <a:r>
              <a:rPr lang="en-US" sz="1100" b="1" dirty="0">
                <a:solidFill>
                  <a:srgbClr val="1C2D41"/>
                </a:solidFill>
                <a:latin typeface="Trebuchet MS" pitchFamily="34" charset="0"/>
                <a:ea typeface="Trebuchet MS" pitchFamily="34" charset="-122"/>
                <a:cs typeface="Trebuchet MS" pitchFamily="34" charset="-120"/>
              </a:rPr>
              <a:t>Modeling</a:t>
            </a:r>
            <a:endParaRPr lang="en-US" sz="1100" dirty="0"/>
          </a:p>
        </p:txBody>
      </p:sp>
      <p:sp>
        <p:nvSpPr>
          <p:cNvPr id="42" name="Text 40"/>
          <p:cNvSpPr/>
          <p:nvPr/>
        </p:nvSpPr>
        <p:spPr>
          <a:xfrm>
            <a:off x="5541264" y="4114800"/>
            <a:ext cx="1371600" cy="502920"/>
          </a:xfrm>
          <a:prstGeom prst="rect">
            <a:avLst/>
          </a:prstGeom>
          <a:noFill/>
          <a:ln/>
        </p:spPr>
        <p:txBody>
          <a:bodyPr wrap="square" lIns="0" tIns="0" rIns="0" bIns="0" rtlCol="0" anchor="ctr"/>
          <a:lstStyle/>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Simple LR, Multiple LR,</a:t>
            </a:r>
            <a:endParaRPr lang="en-US" sz="850" dirty="0"/>
          </a:p>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Random Forest, Logistic</a:t>
            </a:r>
            <a:endParaRPr lang="en-US" sz="850" dirty="0"/>
          </a:p>
        </p:txBody>
      </p:sp>
      <p:sp>
        <p:nvSpPr>
          <p:cNvPr id="43" name="Text 41"/>
          <p:cNvSpPr/>
          <p:nvPr/>
        </p:nvSpPr>
        <p:spPr>
          <a:xfrm>
            <a:off x="7004304" y="3749040"/>
            <a:ext cx="146304" cy="320040"/>
          </a:xfrm>
          <a:prstGeom prst="rect">
            <a:avLst/>
          </a:prstGeom>
          <a:noFill/>
          <a:ln/>
        </p:spPr>
        <p:txBody>
          <a:bodyPr wrap="square" rtlCol="0" anchor="ctr"/>
          <a:lstStyle/>
          <a:p>
            <a:pPr marL="0" indent="0" algn="ctr">
              <a:buNone/>
            </a:pPr>
            <a:r>
              <a:rPr lang="en-US" sz="1200" dirty="0">
                <a:solidFill>
                  <a:srgbClr val="0C7C84"/>
                </a:solidFill>
                <a:latin typeface="Calibri" pitchFamily="34" charset="0"/>
                <a:ea typeface="Calibri" pitchFamily="34" charset="-122"/>
                <a:cs typeface="Calibri" pitchFamily="34" charset="-120"/>
              </a:rPr>
              <a:t>►</a:t>
            </a:r>
            <a:endParaRPr lang="en-US" sz="1200" dirty="0"/>
          </a:p>
        </p:txBody>
      </p:sp>
      <p:sp>
        <p:nvSpPr>
          <p:cNvPr id="44" name="Shape 42"/>
          <p:cNvSpPr/>
          <p:nvPr/>
        </p:nvSpPr>
        <p:spPr>
          <a:xfrm>
            <a:off x="7114032" y="3291840"/>
            <a:ext cx="1554480" cy="14173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45" name="Shape 43"/>
          <p:cNvSpPr/>
          <p:nvPr/>
        </p:nvSpPr>
        <p:spPr>
          <a:xfrm>
            <a:off x="7114032" y="3291840"/>
            <a:ext cx="1554480" cy="45720"/>
          </a:xfrm>
          <a:prstGeom prst="rect">
            <a:avLst/>
          </a:prstGeom>
          <a:solidFill>
            <a:srgbClr val="0C7C84"/>
          </a:solidFill>
          <a:ln/>
        </p:spPr>
        <p:txBody>
          <a:bodyPr/>
          <a:lstStyle/>
          <a:p>
            <a:endParaRPr lang="en-US"/>
          </a:p>
        </p:txBody>
      </p:sp>
      <p:sp>
        <p:nvSpPr>
          <p:cNvPr id="46" name="Shape 44"/>
          <p:cNvSpPr/>
          <p:nvPr/>
        </p:nvSpPr>
        <p:spPr>
          <a:xfrm>
            <a:off x="7708392" y="3429000"/>
            <a:ext cx="365760" cy="365760"/>
          </a:xfrm>
          <a:prstGeom prst="ellipse">
            <a:avLst/>
          </a:prstGeom>
          <a:solidFill>
            <a:srgbClr val="0C7C84"/>
          </a:solidFill>
          <a:ln/>
        </p:spPr>
        <p:txBody>
          <a:bodyPr/>
          <a:lstStyle/>
          <a:p>
            <a:endParaRPr lang="en-US"/>
          </a:p>
        </p:txBody>
      </p:sp>
      <p:sp>
        <p:nvSpPr>
          <p:cNvPr id="47" name="Text 45"/>
          <p:cNvSpPr/>
          <p:nvPr/>
        </p:nvSpPr>
        <p:spPr>
          <a:xfrm>
            <a:off x="7708392" y="3429000"/>
            <a:ext cx="365760" cy="365760"/>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48" name="Text 46"/>
          <p:cNvSpPr/>
          <p:nvPr/>
        </p:nvSpPr>
        <p:spPr>
          <a:xfrm>
            <a:off x="7205472" y="3840480"/>
            <a:ext cx="1371600" cy="274320"/>
          </a:xfrm>
          <a:prstGeom prst="rect">
            <a:avLst/>
          </a:prstGeom>
          <a:noFill/>
          <a:ln/>
        </p:spPr>
        <p:txBody>
          <a:bodyPr wrap="square" lIns="0" tIns="0" rIns="0" bIns="0" rtlCol="0" anchor="ctr"/>
          <a:lstStyle/>
          <a:p>
            <a:pPr marL="0" indent="0" algn="ctr">
              <a:buNone/>
            </a:pPr>
            <a:r>
              <a:rPr lang="en-US" sz="1100" b="1" dirty="0">
                <a:solidFill>
                  <a:srgbClr val="1C2D41"/>
                </a:solidFill>
                <a:latin typeface="Trebuchet MS" pitchFamily="34" charset="0"/>
                <a:ea typeface="Trebuchet MS" pitchFamily="34" charset="-122"/>
                <a:cs typeface="Trebuchet MS" pitchFamily="34" charset="-120"/>
              </a:rPr>
              <a:t>Evaluation</a:t>
            </a:r>
            <a:endParaRPr lang="en-US" sz="1100" dirty="0"/>
          </a:p>
        </p:txBody>
      </p:sp>
      <p:sp>
        <p:nvSpPr>
          <p:cNvPr id="49" name="Text 47"/>
          <p:cNvSpPr/>
          <p:nvPr/>
        </p:nvSpPr>
        <p:spPr>
          <a:xfrm>
            <a:off x="7205472" y="4114800"/>
            <a:ext cx="1371600" cy="502920"/>
          </a:xfrm>
          <a:prstGeom prst="rect">
            <a:avLst/>
          </a:prstGeom>
          <a:noFill/>
          <a:ln/>
        </p:spPr>
        <p:txBody>
          <a:bodyPr wrap="square" lIns="0" tIns="0" rIns="0" bIns="0" rtlCol="0" anchor="ctr"/>
          <a:lstStyle/>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R², MAE, 5-fold CV,</a:t>
            </a:r>
            <a:endParaRPr lang="en-US" sz="850" dirty="0"/>
          </a:p>
          <a:p>
            <a:pPr marL="0" indent="0" algn="ctr">
              <a:lnSpc>
                <a:spcPct val="120000"/>
              </a:lnSpc>
              <a:buNone/>
            </a:pPr>
            <a:r>
              <a:rPr lang="en-US" sz="850" dirty="0">
                <a:solidFill>
                  <a:srgbClr val="7C919E"/>
                </a:solidFill>
                <a:latin typeface="Calibri" pitchFamily="34" charset="0"/>
                <a:ea typeface="Calibri" pitchFamily="34" charset="-122"/>
                <a:cs typeface="Calibri" pitchFamily="34" charset="-120"/>
              </a:rPr>
              <a:t>feature importance</a:t>
            </a:r>
            <a:endParaRPr lang="en-US" sz="850" dirty="0"/>
          </a:p>
        </p:txBody>
      </p:sp>
      <p:sp>
        <p:nvSpPr>
          <p:cNvPr id="50" name="Shape 48"/>
          <p:cNvSpPr/>
          <p:nvPr/>
        </p:nvSpPr>
        <p:spPr>
          <a:xfrm>
            <a:off x="0" y="4892040"/>
            <a:ext cx="9144000" cy="256032"/>
          </a:xfrm>
          <a:prstGeom prst="rect">
            <a:avLst/>
          </a:prstGeom>
          <a:solidFill>
            <a:srgbClr val="1A2744"/>
          </a:solidFill>
          <a:ln/>
        </p:spPr>
        <p:txBody>
          <a:bodyPr/>
          <a:lstStyle/>
          <a:p>
            <a:endParaRPr lang="en-US"/>
          </a:p>
        </p:txBody>
      </p:sp>
      <p:sp>
        <p:nvSpPr>
          <p:cNvPr id="51" name="Text 49"/>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C7C84"/>
          </a:solidFill>
          <a:ln/>
        </p:spPr>
        <p:txBody>
          <a:bodyPr/>
          <a:lstStyle/>
          <a:p>
            <a:endParaRPr lang="en-US"/>
          </a:p>
        </p:txBody>
      </p:sp>
      <p:sp>
        <p:nvSpPr>
          <p:cNvPr id="3" name="Text 1"/>
          <p:cNvSpPr/>
          <p:nvPr/>
        </p:nvSpPr>
        <p:spPr>
          <a:xfrm>
            <a:off x="457200" y="228600"/>
            <a:ext cx="548640" cy="457200"/>
          </a:xfrm>
          <a:prstGeom prst="rect">
            <a:avLst/>
          </a:prstGeom>
          <a:noFill/>
          <a:ln/>
        </p:spPr>
        <p:txBody>
          <a:bodyPr wrap="square" lIns="0" tIns="0" rIns="0" bIns="0" rtlCol="0" anchor="ctr"/>
          <a:lstStyle/>
          <a:p>
            <a:pPr marL="0" indent="0">
              <a:buNone/>
            </a:pPr>
            <a:r>
              <a:rPr lang="en-US" sz="2800" b="1" dirty="0">
                <a:solidFill>
                  <a:srgbClr val="0C7C84"/>
                </a:solidFill>
                <a:latin typeface="Trebuchet MS" pitchFamily="34" charset="0"/>
                <a:ea typeface="Trebuchet MS" pitchFamily="34" charset="-122"/>
                <a:cs typeface="Trebuchet MS" pitchFamily="34" charset="-120"/>
              </a:rPr>
              <a:t>04</a:t>
            </a:r>
            <a:endParaRPr lang="en-US" sz="2800" dirty="0"/>
          </a:p>
        </p:txBody>
      </p:sp>
      <p:sp>
        <p:nvSpPr>
          <p:cNvPr id="4" name="Text 2"/>
          <p:cNvSpPr/>
          <p:nvPr/>
        </p:nvSpPr>
        <p:spPr>
          <a:xfrm>
            <a:off x="1051560" y="256032"/>
            <a:ext cx="5486400" cy="411480"/>
          </a:xfrm>
          <a:prstGeom prst="rect">
            <a:avLst/>
          </a:prstGeom>
          <a:noFill/>
          <a:ln/>
        </p:spPr>
        <p:txBody>
          <a:bodyPr wrap="square" lIns="0" tIns="0" rIns="0" bIns="0" rtlCol="0" anchor="ctr"/>
          <a:lstStyle/>
          <a:p>
            <a:pPr marL="0" indent="0">
              <a:buNone/>
            </a:pPr>
            <a:r>
              <a:rPr lang="en-US" sz="2200" b="1" dirty="0">
                <a:solidFill>
                  <a:srgbClr val="1C2D41"/>
                </a:solidFill>
                <a:latin typeface="Trebuchet MS" pitchFamily="34" charset="0"/>
                <a:ea typeface="Trebuchet MS" pitchFamily="34" charset="-122"/>
                <a:cs typeface="Trebuchet MS" pitchFamily="34" charset="-120"/>
              </a:rPr>
              <a:t>Key Results — Model Performance</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777240"/>
          <a:ext cx="822960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47472">
                <a:tc>
                  <a:txBody>
                    <a:bodyPr/>
                    <a:lstStyle/>
                    <a:p>
                      <a:pPr marL="0" indent="0" algn="l">
                        <a:buNone/>
                      </a:pPr>
                      <a:r>
                        <a:rPr lang="en-US" sz="1000" b="1" dirty="0">
                          <a:solidFill>
                            <a:srgbClr val="FFFFFF"/>
                          </a:solidFill>
                          <a:latin typeface="Trebuchet MS" pitchFamily="34" charset="0"/>
                          <a:ea typeface="Trebuchet MS" pitchFamily="34" charset="-122"/>
                          <a:cs typeface="Trebuchet MS" pitchFamily="34" charset="-120"/>
                        </a:rPr>
                        <a:t>Model</a:t>
                      </a:r>
                      <a:endParaRPr lang="en-US" sz="1000" dirty="0">
                        <a:latin typeface="Trebuchet MS" charset="0"/>
                        <a:ea typeface="Trebuchet MS" charset="0"/>
                        <a:cs typeface="Trebuchet MS"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Test R²</a:t>
                      </a:r>
                      <a:endParaRPr lang="en-US" sz="1000" dirty="0">
                        <a:latin typeface="Trebuchet MS" charset="0"/>
                        <a:ea typeface="Trebuchet MS" charset="0"/>
                        <a:cs typeface="Trebuchet MS"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CV R²</a:t>
                      </a:r>
                      <a:endParaRPr lang="en-US" sz="1000" dirty="0">
                        <a:latin typeface="Trebuchet MS" charset="0"/>
                        <a:ea typeface="Trebuchet MS" charset="0"/>
                        <a:cs typeface="Trebuchet MS"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Test MAE</a:t>
                      </a:r>
                      <a:endParaRPr lang="en-US" sz="1000" dirty="0">
                        <a:latin typeface="Trebuchet MS" charset="0"/>
                        <a:ea typeface="Trebuchet MS" charset="0"/>
                        <a:cs typeface="Trebuchet MS"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1E3A5F"/>
                    </a:solidFill>
                  </a:tcPr>
                </a:tc>
                <a:tc>
                  <a:txBody>
                    <a:bodyP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RMSE</a:t>
                      </a:r>
                      <a:endParaRPr lang="en-US" sz="1000" dirty="0">
                        <a:latin typeface="Trebuchet MS" charset="0"/>
                        <a:ea typeface="Trebuchet MS" charset="0"/>
                        <a:cs typeface="Trebuchet MS"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20040">
                <a:tc>
                  <a:txBody>
                    <a:bodyPr/>
                    <a:lstStyle/>
                    <a:p>
                      <a:pPr marL="0" indent="0" algn="l">
                        <a:buNone/>
                      </a:pPr>
                      <a:r>
                        <a:rPr lang="en-US" sz="1000" dirty="0">
                          <a:solidFill>
                            <a:srgbClr val="1C2D41"/>
                          </a:solidFill>
                          <a:latin typeface="Calibri" pitchFamily="34" charset="0"/>
                          <a:ea typeface="Calibri" pitchFamily="34" charset="-122"/>
                          <a:cs typeface="Calibri" pitchFamily="34" charset="-120"/>
                        </a:rPr>
                        <a:t>M1 — Simple Linear</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0.071</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0.032</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1.482</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1.815</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000" dirty="0">
                          <a:solidFill>
                            <a:srgbClr val="1C2D41"/>
                          </a:solidFill>
                          <a:latin typeface="Calibri" pitchFamily="34" charset="0"/>
                          <a:ea typeface="Calibri" pitchFamily="34" charset="-122"/>
                          <a:cs typeface="Calibri" pitchFamily="34" charset="-120"/>
                        </a:rPr>
                        <a:t>M2 — Multiple Linear</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0.467</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0.411</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1.097</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1.376</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000" b="1" dirty="0">
                          <a:solidFill>
                            <a:srgbClr val="0C7C84"/>
                          </a:solidFill>
                          <a:latin typeface="Calibri" pitchFamily="34" charset="0"/>
                          <a:ea typeface="Calibri" pitchFamily="34" charset="-122"/>
                          <a:cs typeface="Calibri" pitchFamily="34" charset="-120"/>
                        </a:rPr>
                        <a:t>M3 — Random Forest  ★</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E8F5F3"/>
                    </a:solidFill>
                  </a:tcPr>
                </a:tc>
                <a:tc>
                  <a:txBody>
                    <a:bodyPr/>
                    <a:lstStyle/>
                    <a:p>
                      <a:pPr marL="0" indent="0" algn="ctr">
                        <a:buNone/>
                      </a:pPr>
                      <a:r>
                        <a:rPr lang="en-US" sz="1000" b="1" dirty="0">
                          <a:solidFill>
                            <a:srgbClr val="0C7C84"/>
                          </a:solidFill>
                          <a:latin typeface="Calibri" pitchFamily="34" charset="0"/>
                          <a:ea typeface="Calibri" pitchFamily="34" charset="-122"/>
                          <a:cs typeface="Calibri" pitchFamily="34" charset="-120"/>
                        </a:rPr>
                        <a:t>0.674</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E8F5F3"/>
                    </a:solidFill>
                  </a:tcPr>
                </a:tc>
                <a:tc>
                  <a:txBody>
                    <a:bodyPr/>
                    <a:lstStyle/>
                    <a:p>
                      <a:pPr marL="0" indent="0" algn="ctr">
                        <a:buNone/>
                      </a:pPr>
                      <a:r>
                        <a:rPr lang="en-US" sz="1000" b="1" dirty="0">
                          <a:solidFill>
                            <a:srgbClr val="0C7C84"/>
                          </a:solidFill>
                          <a:latin typeface="Calibri" pitchFamily="34" charset="0"/>
                          <a:ea typeface="Calibri" pitchFamily="34" charset="-122"/>
                          <a:cs typeface="Calibri" pitchFamily="34" charset="-120"/>
                        </a:rPr>
                        <a:t>0.639</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E8F5F3"/>
                    </a:solidFill>
                  </a:tcPr>
                </a:tc>
                <a:tc>
                  <a:txBody>
                    <a:bodyPr/>
                    <a:lstStyle/>
                    <a:p>
                      <a:pPr marL="0" indent="0" algn="ctr">
                        <a:buNone/>
                      </a:pPr>
                      <a:r>
                        <a:rPr lang="en-US" sz="1000" b="1" dirty="0">
                          <a:solidFill>
                            <a:srgbClr val="0C7C84"/>
                          </a:solidFill>
                          <a:latin typeface="Calibri" pitchFamily="34" charset="0"/>
                          <a:ea typeface="Calibri" pitchFamily="34" charset="-122"/>
                          <a:cs typeface="Calibri" pitchFamily="34" charset="-120"/>
                        </a:rPr>
                        <a:t>0.891</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E8F5F3"/>
                    </a:solidFill>
                  </a:tcPr>
                </a:tc>
                <a:tc>
                  <a:txBody>
                    <a:bodyPr/>
                    <a:lstStyle/>
                    <a:p>
                      <a:pPr marL="0" indent="0" algn="ctr">
                        <a:buNone/>
                      </a:pPr>
                      <a:r>
                        <a:rPr lang="en-US" sz="1000" b="1" dirty="0">
                          <a:solidFill>
                            <a:srgbClr val="0C7C84"/>
                          </a:solidFill>
                          <a:latin typeface="Calibri" pitchFamily="34" charset="0"/>
                          <a:ea typeface="Calibri" pitchFamily="34" charset="-122"/>
                          <a:cs typeface="Calibri" pitchFamily="34" charset="-120"/>
                        </a:rPr>
                        <a:t>1.075</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E8F5F3"/>
                    </a:solidFill>
                  </a:tcPr>
                </a:tc>
                <a:extLst>
                  <a:ext uri="{0D108BD9-81ED-4DB2-BD59-A6C34878D82A}">
                    <a16:rowId xmlns:a16="http://schemas.microsoft.com/office/drawing/2014/main" val="10003"/>
                  </a:ext>
                </a:extLst>
              </a:tr>
              <a:tr h="320040">
                <a:tc>
                  <a:txBody>
                    <a:bodyPr/>
                    <a:lstStyle/>
                    <a:p>
                      <a:pPr marL="0" indent="0" algn="l">
                        <a:buNone/>
                      </a:pPr>
                      <a:r>
                        <a:rPr lang="en-US" sz="1000" dirty="0">
                          <a:solidFill>
                            <a:srgbClr val="1C2D41"/>
                          </a:solidFill>
                          <a:latin typeface="Calibri" pitchFamily="34" charset="0"/>
                          <a:ea typeface="Calibri" pitchFamily="34" charset="-122"/>
                          <a:cs typeface="Calibri" pitchFamily="34" charset="-120"/>
                        </a:rPr>
                        <a:t>M4 — Logistic Regression</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68.0% acc.</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63.2%</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C2D41"/>
                          </a:solidFill>
                          <a:latin typeface="Calibri" pitchFamily="34" charset="0"/>
                          <a:ea typeface="Calibri" pitchFamily="34" charset="-122"/>
                          <a:cs typeface="Calibri" pitchFamily="34" charset="-120"/>
                        </a:rPr>
                        <a:t>F1 = 0.629</a:t>
                      </a:r>
                      <a:endParaRPr lang="en-US" sz="1000" dirty="0">
                        <a:latin typeface="Calibri" charset="0"/>
                        <a:ea typeface="Calibri" charset="0"/>
                        <a:cs typeface="Calibri" charset="0"/>
                      </a:endParaRPr>
                    </a:p>
                  </a:txBody>
                  <a:tcPr anchor="ctr">
                    <a:lnL w="6350" cap="flat" cmpd="sng" algn="ctr">
                      <a:solidFill>
                        <a:srgbClr val="D6DFE8"/>
                      </a:solidFill>
                      <a:prstDash val="solid"/>
                      <a:round/>
                      <a:headEnd type="none" w="med" len="med"/>
                      <a:tailEnd type="none" w="med" len="med"/>
                    </a:lnL>
                    <a:lnR w="6350" cap="flat" cmpd="sng" algn="ctr">
                      <a:solidFill>
                        <a:srgbClr val="D6DFE8"/>
                      </a:solidFill>
                      <a:prstDash val="solid"/>
                      <a:round/>
                      <a:headEnd type="none" w="med" len="med"/>
                      <a:tailEnd type="none" w="med" len="med"/>
                    </a:lnR>
                    <a:lnT w="6350" cap="flat" cmpd="sng" algn="ctr">
                      <a:solidFill>
                        <a:srgbClr val="D6DFE8"/>
                      </a:solidFill>
                      <a:prstDash val="solid"/>
                      <a:round/>
                      <a:headEnd type="none" w="med" len="med"/>
                      <a:tailEnd type="none" w="med" len="med"/>
                    </a:lnT>
                    <a:lnB w="6350" cap="flat" cmpd="sng" algn="ctr">
                      <a:solidFill>
                        <a:srgbClr val="D6DF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457200" y="2788920"/>
            <a:ext cx="1938528" cy="19202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7" name="Shape 4"/>
          <p:cNvSpPr/>
          <p:nvPr/>
        </p:nvSpPr>
        <p:spPr>
          <a:xfrm>
            <a:off x="457200" y="2788920"/>
            <a:ext cx="1938528" cy="45720"/>
          </a:xfrm>
          <a:prstGeom prst="rect">
            <a:avLst/>
          </a:prstGeom>
          <a:solidFill>
            <a:srgbClr val="0C7C84"/>
          </a:solidFill>
          <a:ln/>
        </p:spPr>
        <p:txBody>
          <a:bodyPr/>
          <a:lstStyle/>
          <a:p>
            <a:endParaRPr lang="en-US"/>
          </a:p>
        </p:txBody>
      </p:sp>
      <p:sp>
        <p:nvSpPr>
          <p:cNvPr id="8" name="Text 5"/>
          <p:cNvSpPr/>
          <p:nvPr/>
        </p:nvSpPr>
        <p:spPr>
          <a:xfrm>
            <a:off x="457200" y="2971800"/>
            <a:ext cx="1938528" cy="457200"/>
          </a:xfrm>
          <a:prstGeom prst="rect">
            <a:avLst/>
          </a:prstGeom>
          <a:noFill/>
          <a:ln/>
        </p:spPr>
        <p:txBody>
          <a:bodyPr wrap="square" lIns="0" tIns="0" rIns="0" bIns="0" rtlCol="0" anchor="ctr"/>
          <a:lstStyle/>
          <a:p>
            <a:pPr marL="0" indent="0" algn="ctr">
              <a:buNone/>
            </a:pPr>
            <a:r>
              <a:rPr lang="en-US" sz="2200" b="1" dirty="0">
                <a:solidFill>
                  <a:srgbClr val="0C7C84"/>
                </a:solidFill>
                <a:latin typeface="Trebuchet MS" pitchFamily="34" charset="0"/>
                <a:ea typeface="Trebuchet MS" pitchFamily="34" charset="-122"/>
                <a:cs typeface="Trebuchet MS" pitchFamily="34" charset="-120"/>
              </a:rPr>
              <a:t>β = +1.475</a:t>
            </a:r>
            <a:endParaRPr lang="en-US" sz="2200" dirty="0"/>
          </a:p>
        </p:txBody>
      </p:sp>
      <p:sp>
        <p:nvSpPr>
          <p:cNvPr id="9" name="Text 6"/>
          <p:cNvSpPr/>
          <p:nvPr/>
        </p:nvSpPr>
        <p:spPr>
          <a:xfrm>
            <a:off x="457200" y="3429000"/>
            <a:ext cx="1938528" cy="274320"/>
          </a:xfrm>
          <a:prstGeom prst="rect">
            <a:avLst/>
          </a:prstGeom>
          <a:noFill/>
          <a:ln/>
        </p:spPr>
        <p:txBody>
          <a:bodyPr wrap="square" lIns="0" tIns="0" rIns="0" bIns="0" rtlCol="0" anchor="ctr"/>
          <a:lstStyle/>
          <a:p>
            <a:pPr marL="0" indent="0" algn="ctr">
              <a:buNone/>
            </a:pPr>
            <a:r>
              <a:rPr lang="en-US" sz="900" dirty="0">
                <a:solidFill>
                  <a:srgbClr val="7C919E"/>
                </a:solidFill>
                <a:latin typeface="Calibri" pitchFamily="34" charset="0"/>
                <a:ea typeface="Calibri" pitchFamily="34" charset="-122"/>
                <a:cs typeface="Calibri" pitchFamily="34" charset="-120"/>
              </a:rPr>
              <a:t>p &lt; 0.001</a:t>
            </a:r>
            <a:endParaRPr lang="en-US" sz="900" dirty="0"/>
          </a:p>
        </p:txBody>
      </p:sp>
      <p:sp>
        <p:nvSpPr>
          <p:cNvPr id="10" name="Text 7"/>
          <p:cNvSpPr/>
          <p:nvPr/>
        </p:nvSpPr>
        <p:spPr>
          <a:xfrm>
            <a:off x="594360" y="3840480"/>
            <a:ext cx="1664208" cy="640080"/>
          </a:xfrm>
          <a:prstGeom prst="rect">
            <a:avLst/>
          </a:prstGeom>
          <a:noFill/>
          <a:ln/>
        </p:spPr>
        <p:txBody>
          <a:bodyPr wrap="square" lIns="0" tIns="0" rIns="0" bIns="0" rtlCol="0" anchor="ctr"/>
          <a:lstStyle/>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Transparency significantly</a:t>
            </a:r>
            <a:endParaRPr lang="en-US" sz="1000" dirty="0"/>
          </a:p>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predicts trust</a:t>
            </a:r>
            <a:endParaRPr lang="en-US" sz="1000" dirty="0"/>
          </a:p>
        </p:txBody>
      </p:sp>
      <p:sp>
        <p:nvSpPr>
          <p:cNvPr id="11" name="Shape 8"/>
          <p:cNvSpPr/>
          <p:nvPr/>
        </p:nvSpPr>
        <p:spPr>
          <a:xfrm>
            <a:off x="2551176" y="2788920"/>
            <a:ext cx="1938528" cy="19202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2" name="Shape 9"/>
          <p:cNvSpPr/>
          <p:nvPr/>
        </p:nvSpPr>
        <p:spPr>
          <a:xfrm>
            <a:off x="2551176" y="2788920"/>
            <a:ext cx="1938528" cy="45720"/>
          </a:xfrm>
          <a:prstGeom prst="rect">
            <a:avLst/>
          </a:prstGeom>
          <a:solidFill>
            <a:srgbClr val="E8833A"/>
          </a:solidFill>
          <a:ln/>
        </p:spPr>
        <p:txBody>
          <a:bodyPr/>
          <a:lstStyle/>
          <a:p>
            <a:endParaRPr lang="en-US"/>
          </a:p>
        </p:txBody>
      </p:sp>
      <p:sp>
        <p:nvSpPr>
          <p:cNvPr id="13" name="Text 10"/>
          <p:cNvSpPr/>
          <p:nvPr/>
        </p:nvSpPr>
        <p:spPr>
          <a:xfrm>
            <a:off x="2551176" y="2971800"/>
            <a:ext cx="1938528" cy="457200"/>
          </a:xfrm>
          <a:prstGeom prst="rect">
            <a:avLst/>
          </a:prstGeom>
          <a:noFill/>
          <a:ln/>
        </p:spPr>
        <p:txBody>
          <a:bodyPr wrap="square" lIns="0" tIns="0" rIns="0" bIns="0" rtlCol="0" anchor="ctr"/>
          <a:lstStyle/>
          <a:p>
            <a:pPr marL="0" indent="0" algn="ctr">
              <a:buNone/>
            </a:pPr>
            <a:r>
              <a:rPr lang="en-US" sz="2200" b="1" dirty="0">
                <a:solidFill>
                  <a:srgbClr val="E8833A"/>
                </a:solidFill>
                <a:latin typeface="Trebuchet MS" pitchFamily="34" charset="0"/>
                <a:ea typeface="Trebuchet MS" pitchFamily="34" charset="-122"/>
                <a:cs typeface="Trebuchet MS" pitchFamily="34" charset="-120"/>
              </a:rPr>
              <a:t>44.7%</a:t>
            </a:r>
            <a:endParaRPr lang="en-US" sz="2200" dirty="0"/>
          </a:p>
        </p:txBody>
      </p:sp>
      <p:sp>
        <p:nvSpPr>
          <p:cNvPr id="14" name="Text 11"/>
          <p:cNvSpPr/>
          <p:nvPr/>
        </p:nvSpPr>
        <p:spPr>
          <a:xfrm>
            <a:off x="2551176" y="3429000"/>
            <a:ext cx="1938528" cy="274320"/>
          </a:xfrm>
          <a:prstGeom prst="rect">
            <a:avLst/>
          </a:prstGeom>
          <a:noFill/>
          <a:ln/>
        </p:spPr>
        <p:txBody>
          <a:bodyPr wrap="square" lIns="0" tIns="0" rIns="0" bIns="0" rtlCol="0" anchor="ctr"/>
          <a:lstStyle/>
          <a:p>
            <a:pPr marL="0" indent="0" algn="ctr">
              <a:buNone/>
            </a:pPr>
            <a:r>
              <a:rPr lang="en-US" sz="900" dirty="0">
                <a:solidFill>
                  <a:srgbClr val="7C919E"/>
                </a:solidFill>
                <a:latin typeface="Calibri" pitchFamily="34" charset="0"/>
                <a:ea typeface="Calibri" pitchFamily="34" charset="-122"/>
                <a:cs typeface="Calibri" pitchFamily="34" charset="-120"/>
              </a:rPr>
              <a:t>Feature Importance</a:t>
            </a:r>
            <a:endParaRPr lang="en-US" sz="900" dirty="0"/>
          </a:p>
        </p:txBody>
      </p:sp>
      <p:sp>
        <p:nvSpPr>
          <p:cNvPr id="15" name="Text 12"/>
          <p:cNvSpPr/>
          <p:nvPr/>
        </p:nvSpPr>
        <p:spPr>
          <a:xfrm>
            <a:off x="2688336" y="3840480"/>
            <a:ext cx="1664208" cy="640080"/>
          </a:xfrm>
          <a:prstGeom prst="rect">
            <a:avLst/>
          </a:prstGeom>
          <a:noFill/>
          <a:ln/>
        </p:spPr>
        <p:txBody>
          <a:bodyPr wrap="square" lIns="0" tIns="0" rIns="0" bIns="0" rtlCol="0" anchor="ctr"/>
          <a:lstStyle/>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AI Confidence %</a:t>
            </a:r>
            <a:endParaRPr lang="en-US" sz="1000" dirty="0"/>
          </a:p>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is #1 trust driver (RF)</a:t>
            </a:r>
            <a:endParaRPr lang="en-US" sz="1000" dirty="0"/>
          </a:p>
        </p:txBody>
      </p:sp>
      <p:sp>
        <p:nvSpPr>
          <p:cNvPr id="16" name="Shape 13"/>
          <p:cNvSpPr/>
          <p:nvPr/>
        </p:nvSpPr>
        <p:spPr>
          <a:xfrm>
            <a:off x="4645152" y="2788920"/>
            <a:ext cx="1938528" cy="19202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17" name="Shape 14"/>
          <p:cNvSpPr/>
          <p:nvPr/>
        </p:nvSpPr>
        <p:spPr>
          <a:xfrm>
            <a:off x="4645152" y="2788920"/>
            <a:ext cx="1938528" cy="45720"/>
          </a:xfrm>
          <a:prstGeom prst="rect">
            <a:avLst/>
          </a:prstGeom>
          <a:solidFill>
            <a:srgbClr val="D94F5C"/>
          </a:solidFill>
          <a:ln/>
        </p:spPr>
        <p:txBody>
          <a:bodyPr/>
          <a:lstStyle/>
          <a:p>
            <a:endParaRPr lang="en-US"/>
          </a:p>
        </p:txBody>
      </p:sp>
      <p:sp>
        <p:nvSpPr>
          <p:cNvPr id="18" name="Text 15"/>
          <p:cNvSpPr/>
          <p:nvPr/>
        </p:nvSpPr>
        <p:spPr>
          <a:xfrm>
            <a:off x="4645152" y="2971800"/>
            <a:ext cx="1938528" cy="457200"/>
          </a:xfrm>
          <a:prstGeom prst="rect">
            <a:avLst/>
          </a:prstGeom>
          <a:noFill/>
          <a:ln/>
        </p:spPr>
        <p:txBody>
          <a:bodyPr wrap="square" lIns="0" tIns="0" rIns="0" bIns="0" rtlCol="0" anchor="ctr"/>
          <a:lstStyle/>
          <a:p>
            <a:pPr marL="0" indent="0" algn="ctr">
              <a:buNone/>
            </a:pPr>
            <a:r>
              <a:rPr lang="en-US" sz="2200" b="1" dirty="0">
                <a:solidFill>
                  <a:srgbClr val="D94F5C"/>
                </a:solidFill>
                <a:latin typeface="Trebuchet MS" pitchFamily="34" charset="0"/>
                <a:ea typeface="Trebuchet MS" pitchFamily="34" charset="-122"/>
                <a:cs typeface="Trebuchet MS" pitchFamily="34" charset="-120"/>
              </a:rPr>
              <a:t>r = 0.078</a:t>
            </a:r>
            <a:endParaRPr lang="en-US" sz="2200" dirty="0"/>
          </a:p>
        </p:txBody>
      </p:sp>
      <p:sp>
        <p:nvSpPr>
          <p:cNvPr id="19" name="Text 16"/>
          <p:cNvSpPr/>
          <p:nvPr/>
        </p:nvSpPr>
        <p:spPr>
          <a:xfrm>
            <a:off x="4645152" y="3429000"/>
            <a:ext cx="1938528" cy="274320"/>
          </a:xfrm>
          <a:prstGeom prst="rect">
            <a:avLst/>
          </a:prstGeom>
          <a:noFill/>
          <a:ln/>
        </p:spPr>
        <p:txBody>
          <a:bodyPr wrap="square" lIns="0" tIns="0" rIns="0" bIns="0" rtlCol="0" anchor="ctr"/>
          <a:lstStyle/>
          <a:p>
            <a:pPr marL="0" indent="0" algn="ctr">
              <a:buNone/>
            </a:pPr>
            <a:r>
              <a:rPr lang="en-US" sz="900" dirty="0">
                <a:solidFill>
                  <a:srgbClr val="7C919E"/>
                </a:solidFill>
                <a:latin typeface="Calibri" pitchFamily="34" charset="0"/>
                <a:ea typeface="Calibri" pitchFamily="34" charset="-122"/>
                <a:cs typeface="Calibri" pitchFamily="34" charset="-120"/>
              </a:rPr>
              <a:t>Trust → WoA</a:t>
            </a:r>
            <a:endParaRPr lang="en-US" sz="900" dirty="0"/>
          </a:p>
        </p:txBody>
      </p:sp>
      <p:sp>
        <p:nvSpPr>
          <p:cNvPr id="20" name="Text 17"/>
          <p:cNvSpPr/>
          <p:nvPr/>
        </p:nvSpPr>
        <p:spPr>
          <a:xfrm>
            <a:off x="4782312" y="3840480"/>
            <a:ext cx="1664208" cy="640080"/>
          </a:xfrm>
          <a:prstGeom prst="rect">
            <a:avLst/>
          </a:prstGeom>
          <a:noFill/>
          <a:ln/>
        </p:spPr>
        <p:txBody>
          <a:bodyPr wrap="square" lIns="0" tIns="0" rIns="0" bIns="0" rtlCol="0" anchor="ctr"/>
          <a:lstStyle/>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Attitude-behavior gap:</a:t>
            </a:r>
            <a:endParaRPr lang="en-US" sz="1000" dirty="0"/>
          </a:p>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weak link to action</a:t>
            </a:r>
            <a:endParaRPr lang="en-US" sz="1000" dirty="0"/>
          </a:p>
        </p:txBody>
      </p:sp>
      <p:sp>
        <p:nvSpPr>
          <p:cNvPr id="21" name="Shape 18"/>
          <p:cNvSpPr/>
          <p:nvPr/>
        </p:nvSpPr>
        <p:spPr>
          <a:xfrm>
            <a:off x="6739128" y="2788920"/>
            <a:ext cx="1938528" cy="192024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22" name="Shape 19"/>
          <p:cNvSpPr/>
          <p:nvPr/>
        </p:nvSpPr>
        <p:spPr>
          <a:xfrm>
            <a:off x="6739128" y="2788920"/>
            <a:ext cx="1938528" cy="45720"/>
          </a:xfrm>
          <a:prstGeom prst="rect">
            <a:avLst/>
          </a:prstGeom>
          <a:solidFill>
            <a:srgbClr val="D4A843"/>
          </a:solidFill>
          <a:ln/>
        </p:spPr>
        <p:txBody>
          <a:bodyPr/>
          <a:lstStyle/>
          <a:p>
            <a:endParaRPr lang="en-US"/>
          </a:p>
        </p:txBody>
      </p:sp>
      <p:sp>
        <p:nvSpPr>
          <p:cNvPr id="23" name="Text 20"/>
          <p:cNvSpPr/>
          <p:nvPr/>
        </p:nvSpPr>
        <p:spPr>
          <a:xfrm>
            <a:off x="6739128" y="2971800"/>
            <a:ext cx="1938528" cy="457200"/>
          </a:xfrm>
          <a:prstGeom prst="rect">
            <a:avLst/>
          </a:prstGeom>
          <a:noFill/>
          <a:ln/>
        </p:spPr>
        <p:txBody>
          <a:bodyPr wrap="square" lIns="0" tIns="0" rIns="0" bIns="0" rtlCol="0" anchor="ctr"/>
          <a:lstStyle/>
          <a:p>
            <a:pPr marL="0" indent="0" algn="ctr">
              <a:buNone/>
            </a:pPr>
            <a:r>
              <a:rPr lang="en-US" sz="2200" b="1" dirty="0">
                <a:solidFill>
                  <a:srgbClr val="D4A843"/>
                </a:solidFill>
                <a:latin typeface="Trebuchet MS" pitchFamily="34" charset="0"/>
                <a:ea typeface="Trebuchet MS" pitchFamily="34" charset="-122"/>
                <a:cs typeface="Trebuchet MS" pitchFamily="34" charset="-120"/>
              </a:rPr>
              <a:t>7% → 67%</a:t>
            </a:r>
            <a:endParaRPr lang="en-US" sz="2200" dirty="0"/>
          </a:p>
        </p:txBody>
      </p:sp>
      <p:sp>
        <p:nvSpPr>
          <p:cNvPr id="24" name="Text 21"/>
          <p:cNvSpPr/>
          <p:nvPr/>
        </p:nvSpPr>
        <p:spPr>
          <a:xfrm>
            <a:off x="6739128" y="3429000"/>
            <a:ext cx="1938528" cy="274320"/>
          </a:xfrm>
          <a:prstGeom prst="rect">
            <a:avLst/>
          </a:prstGeom>
          <a:noFill/>
          <a:ln/>
        </p:spPr>
        <p:txBody>
          <a:bodyPr wrap="square" lIns="0" tIns="0" rIns="0" bIns="0" rtlCol="0" anchor="ctr"/>
          <a:lstStyle/>
          <a:p>
            <a:pPr marL="0" indent="0" algn="ctr">
              <a:buNone/>
            </a:pPr>
            <a:r>
              <a:rPr lang="en-US" sz="900" dirty="0">
                <a:solidFill>
                  <a:srgbClr val="7C919E"/>
                </a:solidFill>
                <a:latin typeface="Calibri" pitchFamily="34" charset="0"/>
                <a:ea typeface="Calibri" pitchFamily="34" charset="-122"/>
                <a:cs typeface="Calibri" pitchFamily="34" charset="-120"/>
              </a:rPr>
              <a:t>R² improvement</a:t>
            </a:r>
            <a:endParaRPr lang="en-US" sz="900" dirty="0"/>
          </a:p>
        </p:txBody>
      </p:sp>
      <p:sp>
        <p:nvSpPr>
          <p:cNvPr id="25" name="Text 22"/>
          <p:cNvSpPr/>
          <p:nvPr/>
        </p:nvSpPr>
        <p:spPr>
          <a:xfrm>
            <a:off x="6876288" y="3840480"/>
            <a:ext cx="1664208" cy="640080"/>
          </a:xfrm>
          <a:prstGeom prst="rect">
            <a:avLst/>
          </a:prstGeom>
          <a:noFill/>
          <a:ln/>
        </p:spPr>
        <p:txBody>
          <a:bodyPr wrap="square" lIns="0" tIns="0" rIns="0" bIns="0" rtlCol="0" anchor="ctr"/>
          <a:lstStyle/>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Progressive gains</a:t>
            </a:r>
            <a:endParaRPr lang="en-US" sz="1000" dirty="0"/>
          </a:p>
          <a:p>
            <a:pPr marL="0" indent="0" algn="ctr">
              <a:lnSpc>
                <a:spcPct val="130000"/>
              </a:lnSpc>
              <a:buNone/>
            </a:pPr>
            <a:r>
              <a:rPr lang="en-US" sz="1000" dirty="0">
                <a:solidFill>
                  <a:srgbClr val="3B5068"/>
                </a:solidFill>
                <a:latin typeface="Calibri" pitchFamily="34" charset="0"/>
                <a:ea typeface="Calibri" pitchFamily="34" charset="-122"/>
                <a:cs typeface="Calibri" pitchFamily="34" charset="-120"/>
              </a:rPr>
              <a:t>with more features</a:t>
            </a:r>
            <a:endParaRPr lang="en-US" sz="1000" dirty="0"/>
          </a:p>
        </p:txBody>
      </p:sp>
      <p:sp>
        <p:nvSpPr>
          <p:cNvPr id="26" name="Shape 23"/>
          <p:cNvSpPr/>
          <p:nvPr/>
        </p:nvSpPr>
        <p:spPr>
          <a:xfrm>
            <a:off x="0" y="4892040"/>
            <a:ext cx="9144000" cy="256032"/>
          </a:xfrm>
          <a:prstGeom prst="rect">
            <a:avLst/>
          </a:prstGeom>
          <a:solidFill>
            <a:srgbClr val="1A2744"/>
          </a:solidFill>
          <a:ln/>
        </p:spPr>
        <p:txBody>
          <a:bodyPr/>
          <a:lstStyle/>
          <a:p>
            <a:endParaRPr lang="en-US"/>
          </a:p>
        </p:txBody>
      </p:sp>
      <p:sp>
        <p:nvSpPr>
          <p:cNvPr id="27" name="Text 2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C7C84"/>
          </a:solidFill>
          <a:ln/>
        </p:spPr>
        <p:txBody>
          <a:bodyPr/>
          <a:lstStyle/>
          <a:p>
            <a:endParaRPr lang="en-US"/>
          </a:p>
        </p:txBody>
      </p:sp>
      <p:sp>
        <p:nvSpPr>
          <p:cNvPr id="3" name="Text 1"/>
          <p:cNvSpPr/>
          <p:nvPr/>
        </p:nvSpPr>
        <p:spPr>
          <a:xfrm>
            <a:off x="457200" y="182880"/>
            <a:ext cx="548640" cy="411480"/>
          </a:xfrm>
          <a:prstGeom prst="rect">
            <a:avLst/>
          </a:prstGeom>
          <a:noFill/>
          <a:ln/>
        </p:spPr>
        <p:txBody>
          <a:bodyPr wrap="square" lIns="0" tIns="0" rIns="0" bIns="0" rtlCol="0" anchor="ctr"/>
          <a:lstStyle/>
          <a:p>
            <a:pPr marL="0" indent="0">
              <a:buNone/>
            </a:pPr>
            <a:r>
              <a:rPr lang="en-US" sz="2800" b="1" dirty="0">
                <a:solidFill>
                  <a:srgbClr val="0C7C84"/>
                </a:solidFill>
                <a:latin typeface="Trebuchet MS" pitchFamily="34" charset="0"/>
                <a:ea typeface="Trebuchet MS" pitchFamily="34" charset="-122"/>
                <a:cs typeface="Trebuchet MS" pitchFamily="34" charset="-120"/>
              </a:rPr>
              <a:t>05</a:t>
            </a:r>
            <a:endParaRPr lang="en-US" sz="2800" dirty="0"/>
          </a:p>
        </p:txBody>
      </p:sp>
      <p:sp>
        <p:nvSpPr>
          <p:cNvPr id="4" name="Text 2"/>
          <p:cNvSpPr/>
          <p:nvPr/>
        </p:nvSpPr>
        <p:spPr>
          <a:xfrm>
            <a:off x="1051560" y="210312"/>
            <a:ext cx="6400800" cy="365760"/>
          </a:xfrm>
          <a:prstGeom prst="rect">
            <a:avLst/>
          </a:prstGeom>
          <a:noFill/>
          <a:ln/>
        </p:spPr>
        <p:txBody>
          <a:bodyPr wrap="square" lIns="0" tIns="0" rIns="0" bIns="0" rtlCol="0" anchor="ctr"/>
          <a:lstStyle/>
          <a:p>
            <a:pPr marL="0" indent="0">
              <a:buNone/>
            </a:pPr>
            <a:r>
              <a:rPr lang="en-US" sz="2000" b="1" dirty="0">
                <a:solidFill>
                  <a:srgbClr val="1C2D41"/>
                </a:solidFill>
                <a:latin typeface="Trebuchet MS" pitchFamily="34" charset="0"/>
                <a:ea typeface="Trebuchet MS" pitchFamily="34" charset="-122"/>
                <a:cs typeface="Trebuchet MS" pitchFamily="34" charset="-120"/>
              </a:rPr>
              <a:t>Core Findings — Transparency &amp; Feature Importance</a:t>
            </a:r>
            <a:endParaRPr lang="en-US" sz="2000" dirty="0"/>
          </a:p>
        </p:txBody>
      </p:sp>
      <p:pic>
        <p:nvPicPr>
          <p:cNvPr id="5" name="Image 0" descr="/home/claude/fig1_regression_confidence_bands.png"/>
          <p:cNvPicPr>
            <a:picLocks noChangeAspect="1"/>
          </p:cNvPicPr>
          <p:nvPr/>
        </p:nvPicPr>
        <p:blipFill>
          <a:blip r:embed="rId3"/>
          <a:srcRect/>
          <a:stretch/>
        </p:blipFill>
        <p:spPr>
          <a:xfrm>
            <a:off x="457200" y="685800"/>
            <a:ext cx="8229600" cy="2103120"/>
          </a:xfrm>
          <a:prstGeom prst="rect">
            <a:avLst/>
          </a:prstGeom>
        </p:spPr>
      </p:pic>
      <p:pic>
        <p:nvPicPr>
          <p:cNvPr id="6" name="Image 1" descr="/home/claude/fig2_feature_importance.png"/>
          <p:cNvPicPr>
            <a:picLocks noChangeAspect="1"/>
          </p:cNvPicPr>
          <p:nvPr/>
        </p:nvPicPr>
        <p:blipFill>
          <a:blip r:embed="rId4"/>
          <a:srcRect/>
          <a:stretch/>
        </p:blipFill>
        <p:spPr>
          <a:xfrm>
            <a:off x="457200" y="2834640"/>
            <a:ext cx="8229600" cy="1965960"/>
          </a:xfrm>
          <a:prstGeom prst="rect">
            <a:avLst/>
          </a:prstGeom>
        </p:spPr>
      </p:pic>
      <p:sp>
        <p:nvSpPr>
          <p:cNvPr id="7" name="Shape 3"/>
          <p:cNvSpPr/>
          <p:nvPr/>
        </p:nvSpPr>
        <p:spPr>
          <a:xfrm>
            <a:off x="0" y="4892040"/>
            <a:ext cx="9144000" cy="256032"/>
          </a:xfrm>
          <a:prstGeom prst="rect">
            <a:avLst/>
          </a:prstGeom>
          <a:solidFill>
            <a:srgbClr val="1A2744"/>
          </a:solidFill>
          <a:ln/>
        </p:spPr>
        <p:txBody>
          <a:bodyPr/>
          <a:lstStyle/>
          <a:p>
            <a:endParaRPr lang="en-US"/>
          </a:p>
        </p:txBody>
      </p:sp>
      <p:sp>
        <p:nvSpPr>
          <p:cNvPr id="8"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C7C84"/>
          </a:solidFill>
          <a:ln/>
        </p:spPr>
        <p:txBody>
          <a:bodyPr/>
          <a:lstStyle/>
          <a:p>
            <a:endParaRPr lang="en-US"/>
          </a:p>
        </p:txBody>
      </p:sp>
      <p:sp>
        <p:nvSpPr>
          <p:cNvPr id="3" name="Text 1"/>
          <p:cNvSpPr/>
          <p:nvPr/>
        </p:nvSpPr>
        <p:spPr>
          <a:xfrm>
            <a:off x="457200" y="182880"/>
            <a:ext cx="548640" cy="411480"/>
          </a:xfrm>
          <a:prstGeom prst="rect">
            <a:avLst/>
          </a:prstGeom>
          <a:noFill/>
          <a:ln/>
        </p:spPr>
        <p:txBody>
          <a:bodyPr wrap="square" lIns="0" tIns="0" rIns="0" bIns="0" rtlCol="0" anchor="ctr"/>
          <a:lstStyle/>
          <a:p>
            <a:pPr marL="0" indent="0">
              <a:buNone/>
            </a:pPr>
            <a:r>
              <a:rPr lang="en-US" sz="2800" b="1" dirty="0">
                <a:solidFill>
                  <a:srgbClr val="0C7C84"/>
                </a:solidFill>
                <a:latin typeface="Trebuchet MS" pitchFamily="34" charset="0"/>
                <a:ea typeface="Trebuchet MS" pitchFamily="34" charset="-122"/>
                <a:cs typeface="Trebuchet MS" pitchFamily="34" charset="-120"/>
              </a:rPr>
              <a:t>06</a:t>
            </a:r>
            <a:endParaRPr lang="en-US" sz="2800" dirty="0"/>
          </a:p>
        </p:txBody>
      </p:sp>
      <p:sp>
        <p:nvSpPr>
          <p:cNvPr id="4" name="Text 2"/>
          <p:cNvSpPr/>
          <p:nvPr/>
        </p:nvSpPr>
        <p:spPr>
          <a:xfrm>
            <a:off x="1051560" y="210312"/>
            <a:ext cx="6400800" cy="365760"/>
          </a:xfrm>
          <a:prstGeom prst="rect">
            <a:avLst/>
          </a:prstGeom>
          <a:noFill/>
          <a:ln/>
        </p:spPr>
        <p:txBody>
          <a:bodyPr wrap="square" lIns="0" tIns="0" rIns="0" bIns="0" rtlCol="0" anchor="ctr"/>
          <a:lstStyle/>
          <a:p>
            <a:pPr marL="0" indent="0">
              <a:buNone/>
            </a:pPr>
            <a:r>
              <a:rPr lang="en-US" sz="2000" b="1" dirty="0">
                <a:solidFill>
                  <a:srgbClr val="1C2D41"/>
                </a:solidFill>
                <a:latin typeface="Trebuchet MS" pitchFamily="34" charset="0"/>
                <a:ea typeface="Trebuchet MS" pitchFamily="34" charset="-122"/>
                <a:cs typeface="Trebuchet MS" pitchFamily="34" charset="-120"/>
              </a:rPr>
              <a:t>Model Dashboard &amp; Behavioral Validation</a:t>
            </a:r>
            <a:endParaRPr lang="en-US" sz="2000" dirty="0"/>
          </a:p>
        </p:txBody>
      </p:sp>
      <p:pic>
        <p:nvPicPr>
          <p:cNvPr id="5" name="Image 0" descr="/home/claude/fig4_model_dashboard.png"/>
          <p:cNvPicPr>
            <a:picLocks noChangeAspect="1"/>
          </p:cNvPicPr>
          <p:nvPr/>
        </p:nvPicPr>
        <p:blipFill>
          <a:blip r:embed="rId3"/>
          <a:srcRect/>
          <a:stretch/>
        </p:blipFill>
        <p:spPr>
          <a:xfrm>
            <a:off x="274320" y="658368"/>
            <a:ext cx="5303520" cy="3794760"/>
          </a:xfrm>
          <a:prstGeom prst="rect">
            <a:avLst/>
          </a:prstGeom>
        </p:spPr>
      </p:pic>
      <p:pic>
        <p:nvPicPr>
          <p:cNvPr id="6" name="Image 1" descr="/home/claude/fig5_woa_aitrust.png"/>
          <p:cNvPicPr>
            <a:picLocks noChangeAspect="1"/>
          </p:cNvPicPr>
          <p:nvPr/>
        </p:nvPicPr>
        <p:blipFill>
          <a:blip r:embed="rId4"/>
          <a:srcRect/>
          <a:stretch/>
        </p:blipFill>
        <p:spPr>
          <a:xfrm>
            <a:off x="5577840" y="658368"/>
            <a:ext cx="3383280" cy="1828800"/>
          </a:xfrm>
          <a:prstGeom prst="rect">
            <a:avLst/>
          </a:prstGeom>
        </p:spPr>
      </p:pic>
      <p:sp>
        <p:nvSpPr>
          <p:cNvPr id="7" name="Shape 3"/>
          <p:cNvSpPr/>
          <p:nvPr/>
        </p:nvSpPr>
        <p:spPr>
          <a:xfrm>
            <a:off x="5577840" y="2606040"/>
            <a:ext cx="3383280" cy="1874520"/>
          </a:xfrm>
          <a:prstGeom prst="rect">
            <a:avLst/>
          </a:prstGeom>
          <a:solidFill>
            <a:srgbClr val="FFFFFF"/>
          </a:solidFill>
          <a:ln/>
          <a:effectLst>
            <a:outerShdw blurRad="101600" dist="38100" dir="8100000" algn="bl" rotWithShape="0">
              <a:srgbClr val="000000">
                <a:alpha val="10000"/>
              </a:srgbClr>
            </a:outerShdw>
          </a:effectLst>
        </p:spPr>
        <p:txBody>
          <a:bodyPr/>
          <a:lstStyle/>
          <a:p>
            <a:endParaRPr lang="en-US"/>
          </a:p>
        </p:txBody>
      </p:sp>
      <p:sp>
        <p:nvSpPr>
          <p:cNvPr id="8" name="Shape 4"/>
          <p:cNvSpPr/>
          <p:nvPr/>
        </p:nvSpPr>
        <p:spPr>
          <a:xfrm>
            <a:off x="5577840" y="2606040"/>
            <a:ext cx="3383280" cy="45720"/>
          </a:xfrm>
          <a:prstGeom prst="rect">
            <a:avLst/>
          </a:prstGeom>
          <a:solidFill>
            <a:srgbClr val="D94F5C"/>
          </a:solidFill>
          <a:ln/>
        </p:spPr>
        <p:txBody>
          <a:bodyPr/>
          <a:lstStyle/>
          <a:p>
            <a:endParaRPr lang="en-US"/>
          </a:p>
        </p:txBody>
      </p:sp>
      <p:sp>
        <p:nvSpPr>
          <p:cNvPr id="9" name="Text 5"/>
          <p:cNvSpPr/>
          <p:nvPr/>
        </p:nvSpPr>
        <p:spPr>
          <a:xfrm>
            <a:off x="5715000" y="2724912"/>
            <a:ext cx="3108960" cy="274320"/>
          </a:xfrm>
          <a:prstGeom prst="rect">
            <a:avLst/>
          </a:prstGeom>
          <a:noFill/>
          <a:ln/>
        </p:spPr>
        <p:txBody>
          <a:bodyPr wrap="square" lIns="0" tIns="0" rIns="0" bIns="0" rtlCol="0" anchor="ctr"/>
          <a:lstStyle/>
          <a:p>
            <a:pPr marL="0" indent="0">
              <a:buNone/>
            </a:pPr>
            <a:r>
              <a:rPr lang="en-US" sz="1100" b="1" dirty="0">
                <a:solidFill>
                  <a:srgbClr val="D94F5C"/>
                </a:solidFill>
                <a:latin typeface="Trebuchet MS" pitchFamily="34" charset="0"/>
                <a:ea typeface="Trebuchet MS" pitchFamily="34" charset="-122"/>
                <a:cs typeface="Trebuchet MS" pitchFamily="34" charset="-120"/>
              </a:rPr>
              <a:t>Key Insight: Attitude–Behavior Gap</a:t>
            </a:r>
            <a:endParaRPr lang="en-US" sz="1100" dirty="0"/>
          </a:p>
        </p:txBody>
      </p:sp>
      <p:sp>
        <p:nvSpPr>
          <p:cNvPr id="10" name="Text 6"/>
          <p:cNvSpPr/>
          <p:nvPr/>
        </p:nvSpPr>
        <p:spPr>
          <a:xfrm>
            <a:off x="5715000" y="3063240"/>
            <a:ext cx="3108960" cy="1325880"/>
          </a:xfrm>
          <a:prstGeom prst="rect">
            <a:avLst/>
          </a:prstGeom>
          <a:noFill/>
          <a:ln/>
        </p:spPr>
        <p:txBody>
          <a:bodyPr wrap="square" lIns="0" tIns="0" rIns="0" bIns="0" rtlCol="0" anchor="ctr"/>
          <a:lstStyle/>
          <a:p>
            <a:pPr marL="0" indent="0">
              <a:buNone/>
            </a:pPr>
            <a:r>
              <a:rPr lang="en-US" sz="2200" b="1" dirty="0">
                <a:solidFill>
                  <a:srgbClr val="D94F5C"/>
                </a:solidFill>
                <a:latin typeface="Trebuchet MS" pitchFamily="34" charset="0"/>
                <a:ea typeface="Trebuchet MS" pitchFamily="34" charset="-122"/>
                <a:cs typeface="Trebuchet MS" pitchFamily="34" charset="-120"/>
              </a:rPr>
              <a:t>r = 0.078</a:t>
            </a:r>
            <a:endParaRPr lang="en-US" sz="2200" dirty="0"/>
          </a:p>
          <a:p>
            <a:pPr marL="0" indent="0">
              <a:buNone/>
            </a:pPr>
            <a:r>
              <a:rPr lang="en-US" sz="900" dirty="0">
                <a:solidFill>
                  <a:srgbClr val="7C919E"/>
                </a:solidFill>
                <a:latin typeface="Calibri" pitchFamily="34" charset="0"/>
                <a:ea typeface="Calibri" pitchFamily="34" charset="-122"/>
                <a:cs typeface="Calibri" pitchFamily="34" charset="-120"/>
              </a:rPr>
              <a:t>Trust → WoA correlation</a:t>
            </a:r>
            <a:endParaRPr lang="en-US" sz="2200" dirty="0"/>
          </a:p>
          <a:p>
            <a:pPr marL="0" indent="0">
              <a:buNone/>
            </a:pPr>
            <a:r>
              <a:rPr lang="en-US" sz="600" dirty="0">
                <a:solidFill>
                  <a:srgbClr val="000000"/>
                </a:solidFill>
              </a:rPr>
              <a:t>
</a:t>
            </a:r>
            <a:endParaRPr lang="en-US" sz="2200" dirty="0"/>
          </a:p>
          <a:p>
            <a:pPr marL="0" indent="0">
              <a:lnSpc>
                <a:spcPct val="130000"/>
              </a:lnSpc>
              <a:buNone/>
            </a:pPr>
            <a:r>
              <a:rPr lang="en-US" sz="950" dirty="0">
                <a:solidFill>
                  <a:srgbClr val="3B5068"/>
                </a:solidFill>
                <a:latin typeface="Calibri" pitchFamily="34" charset="0"/>
                <a:ea typeface="Calibri" pitchFamily="34" charset="-122"/>
                <a:cs typeface="Calibri" pitchFamily="34" charset="-120"/>
              </a:rPr>
              <a:t>People who report high trust don't necessarily follow AI advice. Designing for felt trust is necessary but not sufficient — behavioral nudges are needed.</a:t>
            </a:r>
            <a:endParaRPr lang="en-US" sz="2200" dirty="0"/>
          </a:p>
        </p:txBody>
      </p:sp>
      <p:sp>
        <p:nvSpPr>
          <p:cNvPr id="11" name="Shape 7"/>
          <p:cNvSpPr/>
          <p:nvPr/>
        </p:nvSpPr>
        <p:spPr>
          <a:xfrm>
            <a:off x="0" y="4892040"/>
            <a:ext cx="9144000" cy="256032"/>
          </a:xfrm>
          <a:prstGeom prst="rect">
            <a:avLst/>
          </a:prstGeom>
          <a:solidFill>
            <a:srgbClr val="1A2744"/>
          </a:solidFill>
          <a:ln/>
        </p:spPr>
        <p:txBody>
          <a:bodyPr/>
          <a:lstStyle/>
          <a:p>
            <a:endParaRPr lang="en-US"/>
          </a:p>
        </p:txBody>
      </p:sp>
      <p:sp>
        <p:nvSpPr>
          <p:cNvPr id="12" name="Text 8"/>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96"/>
          </a:solidFill>
          <a:ln/>
        </p:spPr>
        <p:txBody>
          <a:bodyPr/>
          <a:lstStyle/>
          <a:p>
            <a:endParaRPr lang="en-US"/>
          </a:p>
        </p:txBody>
      </p:sp>
      <p:sp>
        <p:nvSpPr>
          <p:cNvPr id="3" name="Text 1"/>
          <p:cNvSpPr/>
          <p:nvPr/>
        </p:nvSpPr>
        <p:spPr>
          <a:xfrm>
            <a:off x="457200" y="228600"/>
            <a:ext cx="548640" cy="457200"/>
          </a:xfrm>
          <a:prstGeom prst="rect">
            <a:avLst/>
          </a:prstGeom>
          <a:noFill/>
          <a:ln/>
        </p:spPr>
        <p:txBody>
          <a:bodyPr wrap="square" lIns="0" tIns="0" rIns="0" bIns="0" rtlCol="0" anchor="ctr"/>
          <a:lstStyle/>
          <a:p>
            <a:pPr marL="0" indent="0">
              <a:buNone/>
            </a:pPr>
            <a:r>
              <a:rPr lang="en-US" sz="2800" b="1" dirty="0">
                <a:solidFill>
                  <a:srgbClr val="00A896"/>
                </a:solidFill>
                <a:latin typeface="Trebuchet MS" pitchFamily="34" charset="0"/>
                <a:ea typeface="Trebuchet MS" pitchFamily="34" charset="-122"/>
                <a:cs typeface="Trebuchet MS" pitchFamily="34" charset="-120"/>
              </a:rPr>
              <a:t>07</a:t>
            </a:r>
            <a:endParaRPr lang="en-US" sz="2800" dirty="0"/>
          </a:p>
        </p:txBody>
      </p:sp>
      <p:sp>
        <p:nvSpPr>
          <p:cNvPr id="4" name="Text 2"/>
          <p:cNvSpPr/>
          <p:nvPr/>
        </p:nvSpPr>
        <p:spPr>
          <a:xfrm>
            <a:off x="1051560" y="256032"/>
            <a:ext cx="5486400" cy="4114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Conclusions &amp; Implications</a:t>
            </a:r>
            <a:endParaRPr lang="en-US" sz="2200" dirty="0"/>
          </a:p>
        </p:txBody>
      </p:sp>
      <p:sp>
        <p:nvSpPr>
          <p:cNvPr id="5" name="Shape 3"/>
          <p:cNvSpPr/>
          <p:nvPr/>
        </p:nvSpPr>
        <p:spPr>
          <a:xfrm>
            <a:off x="457200" y="822960"/>
            <a:ext cx="2606040" cy="329184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6" name="Shape 4"/>
          <p:cNvSpPr/>
          <p:nvPr/>
        </p:nvSpPr>
        <p:spPr>
          <a:xfrm>
            <a:off x="457200" y="822960"/>
            <a:ext cx="2606040" cy="54864"/>
          </a:xfrm>
          <a:prstGeom prst="rect">
            <a:avLst/>
          </a:prstGeom>
          <a:solidFill>
            <a:srgbClr val="0C7C84"/>
          </a:solidFill>
          <a:ln/>
        </p:spPr>
        <p:txBody>
          <a:bodyPr/>
          <a:lstStyle/>
          <a:p>
            <a:endParaRPr lang="en-US"/>
          </a:p>
        </p:txBody>
      </p:sp>
      <p:sp>
        <p:nvSpPr>
          <p:cNvPr id="7" name="Text 5"/>
          <p:cNvSpPr/>
          <p:nvPr/>
        </p:nvSpPr>
        <p:spPr>
          <a:xfrm>
            <a:off x="594360" y="1005840"/>
            <a:ext cx="2331720" cy="320040"/>
          </a:xfrm>
          <a:prstGeom prst="rect">
            <a:avLst/>
          </a:prstGeom>
          <a:noFill/>
          <a:ln/>
        </p:spPr>
        <p:txBody>
          <a:bodyPr wrap="square" lIns="0" tIns="0" rIns="0" bIns="0" rtlCol="0" anchor="ctr"/>
          <a:lstStyle/>
          <a:p>
            <a:pPr marL="0" indent="0">
              <a:buNone/>
            </a:pPr>
            <a:r>
              <a:rPr lang="en-US" sz="1300" b="1" dirty="0">
                <a:solidFill>
                  <a:srgbClr val="0C7C84"/>
                </a:solidFill>
                <a:latin typeface="Trebuchet MS" pitchFamily="34" charset="0"/>
                <a:ea typeface="Trebuchet MS" pitchFamily="34" charset="-122"/>
                <a:cs typeface="Trebuchet MS" pitchFamily="34" charset="-120"/>
              </a:rPr>
              <a:t>What We Found</a:t>
            </a:r>
            <a:endParaRPr lang="en-US" sz="1300" dirty="0"/>
          </a:p>
        </p:txBody>
      </p:sp>
      <p:sp>
        <p:nvSpPr>
          <p:cNvPr id="8" name="Text 6"/>
          <p:cNvSpPr/>
          <p:nvPr/>
        </p:nvSpPr>
        <p:spPr>
          <a:xfrm>
            <a:off x="594360" y="1417320"/>
            <a:ext cx="2331720" cy="2514600"/>
          </a:xfrm>
          <a:prstGeom prst="rect">
            <a:avLst/>
          </a:prstGeom>
          <a:noFill/>
          <a:ln/>
        </p:spPr>
        <p:txBody>
          <a:bodyPr wrap="square" lIns="0" tIns="0" rIns="0" bIns="0" rtlCol="0" anchor="ctr"/>
          <a:lstStyle/>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Transparency significantly predicts trust (β=+1.475, p&lt;0.001)</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Random Forest explains 67.4% of trust variance — best model</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AI Confidence % is the #1 trust driver (44.7% importance)</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Attitude-behavior gap: stated trust weakly predicts WoA (r=0.078)</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Higher digital literacy &amp; AI familiarity reduce naive trust</a:t>
            </a:r>
            <a:endParaRPr lang="en-US" sz="900" dirty="0"/>
          </a:p>
        </p:txBody>
      </p:sp>
      <p:sp>
        <p:nvSpPr>
          <p:cNvPr id="9" name="Shape 7"/>
          <p:cNvSpPr/>
          <p:nvPr/>
        </p:nvSpPr>
        <p:spPr>
          <a:xfrm>
            <a:off x="3273552" y="822960"/>
            <a:ext cx="2606040" cy="329184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3273552" y="822960"/>
            <a:ext cx="2606040" cy="54864"/>
          </a:xfrm>
          <a:prstGeom prst="rect">
            <a:avLst/>
          </a:prstGeom>
          <a:solidFill>
            <a:srgbClr val="E8833A"/>
          </a:solidFill>
          <a:ln/>
        </p:spPr>
        <p:txBody>
          <a:bodyPr/>
          <a:lstStyle/>
          <a:p>
            <a:endParaRPr lang="en-US"/>
          </a:p>
        </p:txBody>
      </p:sp>
      <p:sp>
        <p:nvSpPr>
          <p:cNvPr id="11" name="Text 9"/>
          <p:cNvSpPr/>
          <p:nvPr/>
        </p:nvSpPr>
        <p:spPr>
          <a:xfrm>
            <a:off x="3410712" y="1005840"/>
            <a:ext cx="2331720" cy="320040"/>
          </a:xfrm>
          <a:prstGeom prst="rect">
            <a:avLst/>
          </a:prstGeom>
          <a:noFill/>
          <a:ln/>
        </p:spPr>
        <p:txBody>
          <a:bodyPr wrap="square" lIns="0" tIns="0" rIns="0" bIns="0" rtlCol="0" anchor="ctr"/>
          <a:lstStyle/>
          <a:p>
            <a:pPr marL="0" indent="0">
              <a:buNone/>
            </a:pPr>
            <a:r>
              <a:rPr lang="en-US" sz="1300" b="1" dirty="0">
                <a:solidFill>
                  <a:srgbClr val="E8833A"/>
                </a:solidFill>
                <a:latin typeface="Trebuchet MS" pitchFamily="34" charset="0"/>
                <a:ea typeface="Trebuchet MS" pitchFamily="34" charset="-122"/>
                <a:cs typeface="Trebuchet MS" pitchFamily="34" charset="-120"/>
              </a:rPr>
              <a:t>What This Means</a:t>
            </a:r>
            <a:endParaRPr lang="en-US" sz="1300" dirty="0"/>
          </a:p>
        </p:txBody>
      </p:sp>
      <p:sp>
        <p:nvSpPr>
          <p:cNvPr id="12" name="Text 10"/>
          <p:cNvSpPr/>
          <p:nvPr/>
        </p:nvSpPr>
        <p:spPr>
          <a:xfrm>
            <a:off x="3410712" y="1417320"/>
            <a:ext cx="2331720" cy="2514600"/>
          </a:xfrm>
          <a:prstGeom prst="rect">
            <a:avLst/>
          </a:prstGeom>
          <a:noFill/>
          <a:ln/>
        </p:spPr>
        <p:txBody>
          <a:bodyPr wrap="square" lIns="0" tIns="0" rIns="0" bIns="0" rtlCol="0" anchor="ctr"/>
          <a:lstStyle/>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Technical accuracy alone is insufficient for AI adoption</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How AI communicates confidence matters more than structural explanation features</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AI designers should calibrate confidence displays to optimize trust</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High-literacy users need evidence, not just confidence signals</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Behavioral nudges are needed to bridge stated trust to actual use</a:t>
            </a:r>
            <a:endParaRPr lang="en-US" sz="900" dirty="0"/>
          </a:p>
        </p:txBody>
      </p:sp>
      <p:sp>
        <p:nvSpPr>
          <p:cNvPr id="13" name="Shape 11"/>
          <p:cNvSpPr/>
          <p:nvPr/>
        </p:nvSpPr>
        <p:spPr>
          <a:xfrm>
            <a:off x="6089904" y="822960"/>
            <a:ext cx="2606040" cy="3291840"/>
          </a:xfrm>
          <a:prstGeom prst="rect">
            <a:avLst/>
          </a:prstGeom>
          <a:solidFill>
            <a:srgbClr val="1E3A5F"/>
          </a:solidFill>
          <a:ln/>
          <a:effectLst>
            <a:outerShdw blurRad="101600" dist="38100" dir="8100000" algn="bl" rotWithShape="0">
              <a:srgbClr val="000000">
                <a:alpha val="10000"/>
              </a:srgbClr>
            </a:outerShdw>
          </a:effectLst>
        </p:spPr>
        <p:txBody>
          <a:bodyPr/>
          <a:lstStyle/>
          <a:p>
            <a:endParaRPr lang="en-US"/>
          </a:p>
        </p:txBody>
      </p:sp>
      <p:sp>
        <p:nvSpPr>
          <p:cNvPr id="14" name="Shape 12"/>
          <p:cNvSpPr/>
          <p:nvPr/>
        </p:nvSpPr>
        <p:spPr>
          <a:xfrm>
            <a:off x="6089904" y="822960"/>
            <a:ext cx="2606040" cy="54864"/>
          </a:xfrm>
          <a:prstGeom prst="rect">
            <a:avLst/>
          </a:prstGeom>
          <a:solidFill>
            <a:srgbClr val="D4A843"/>
          </a:solidFill>
          <a:ln/>
        </p:spPr>
        <p:txBody>
          <a:bodyPr/>
          <a:lstStyle/>
          <a:p>
            <a:endParaRPr lang="en-US"/>
          </a:p>
        </p:txBody>
      </p:sp>
      <p:sp>
        <p:nvSpPr>
          <p:cNvPr id="15" name="Text 13"/>
          <p:cNvSpPr/>
          <p:nvPr/>
        </p:nvSpPr>
        <p:spPr>
          <a:xfrm>
            <a:off x="6227064" y="1005840"/>
            <a:ext cx="2331720" cy="320040"/>
          </a:xfrm>
          <a:prstGeom prst="rect">
            <a:avLst/>
          </a:prstGeom>
          <a:noFill/>
          <a:ln/>
        </p:spPr>
        <p:txBody>
          <a:bodyPr wrap="square" lIns="0" tIns="0" rIns="0" bIns="0" rtlCol="0" anchor="ctr"/>
          <a:lstStyle/>
          <a:p>
            <a:pPr marL="0" indent="0">
              <a:buNone/>
            </a:pPr>
            <a:r>
              <a:rPr lang="en-US" sz="1300" b="1" dirty="0">
                <a:solidFill>
                  <a:srgbClr val="D4A843"/>
                </a:solidFill>
                <a:latin typeface="Trebuchet MS" pitchFamily="34" charset="0"/>
                <a:ea typeface="Trebuchet MS" pitchFamily="34" charset="-122"/>
                <a:cs typeface="Trebuchet MS" pitchFamily="34" charset="-120"/>
              </a:rPr>
              <a:t>Future Research</a:t>
            </a:r>
            <a:endParaRPr lang="en-US" sz="1300" dirty="0"/>
          </a:p>
        </p:txBody>
      </p:sp>
      <p:sp>
        <p:nvSpPr>
          <p:cNvPr id="16" name="Text 14"/>
          <p:cNvSpPr/>
          <p:nvPr/>
        </p:nvSpPr>
        <p:spPr>
          <a:xfrm>
            <a:off x="6227064" y="1417320"/>
            <a:ext cx="2331720" cy="2514600"/>
          </a:xfrm>
          <a:prstGeom prst="rect">
            <a:avLst/>
          </a:prstGeom>
          <a:noFill/>
          <a:ln/>
        </p:spPr>
        <p:txBody>
          <a:bodyPr wrap="square" lIns="0" tIns="0" rIns="0" bIns="0" rtlCol="0" anchor="ctr"/>
          <a:lstStyle/>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Expand with personality variables as moderators</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Test non-linear trust models (polynomial, interactions)</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Add cognitive load &amp; domain expertise variables</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Replicate with real organizational decision-making data</a:t>
            </a:r>
            <a:endParaRPr lang="en-US" sz="900" dirty="0"/>
          </a:p>
          <a:p>
            <a:pPr marL="342900" indent="-342900">
              <a:lnSpc>
                <a:spcPct val="120000"/>
              </a:lnSpc>
              <a:spcAft>
                <a:spcPts val="500"/>
              </a:spcAft>
              <a:buSzPct val="100000"/>
              <a:buChar char="✓"/>
            </a:pPr>
            <a:r>
              <a:rPr lang="en-US" sz="900" dirty="0">
                <a:solidFill>
                  <a:srgbClr val="EEF2F7"/>
                </a:solidFill>
                <a:latin typeface="Calibri" pitchFamily="34" charset="0"/>
                <a:ea typeface="Calibri" pitchFamily="34" charset="-122"/>
                <a:cs typeface="Calibri" pitchFamily="34" charset="-120"/>
              </a:rPr>
              <a:t>Longitudinal design to track trust calibration over time</a:t>
            </a:r>
            <a:endParaRPr lang="en-US" sz="900" dirty="0"/>
          </a:p>
        </p:txBody>
      </p:sp>
      <p:sp>
        <p:nvSpPr>
          <p:cNvPr id="17" name="Shape 15"/>
          <p:cNvSpPr/>
          <p:nvPr/>
        </p:nvSpPr>
        <p:spPr>
          <a:xfrm>
            <a:off x="457200" y="4251960"/>
            <a:ext cx="8229600" cy="502920"/>
          </a:xfrm>
          <a:prstGeom prst="rect">
            <a:avLst/>
          </a:prstGeom>
          <a:solidFill>
            <a:srgbClr val="0C7C84">
              <a:alpha val="75000"/>
            </a:srgbClr>
          </a:solidFill>
          <a:ln/>
        </p:spPr>
        <p:txBody>
          <a:bodyPr/>
          <a:lstStyle/>
          <a:p>
            <a:endParaRPr lang="en-US"/>
          </a:p>
        </p:txBody>
      </p:sp>
      <p:sp>
        <p:nvSpPr>
          <p:cNvPr id="18" name="Text 16"/>
          <p:cNvSpPr/>
          <p:nvPr/>
        </p:nvSpPr>
        <p:spPr>
          <a:xfrm>
            <a:off x="640080" y="4251960"/>
            <a:ext cx="7863840" cy="502920"/>
          </a:xfrm>
          <a:prstGeom prst="rect">
            <a:avLst/>
          </a:prstGeom>
          <a:noFill/>
          <a:ln/>
        </p:spPr>
        <p:txBody>
          <a:bodyPr wrap="square" rtlCol="0" anchor="ctr"/>
          <a:lstStyle/>
          <a:p>
            <a:pPr marL="0" indent="0">
              <a:buNone/>
            </a:pPr>
            <a:r>
              <a:rPr lang="en-US" sz="2400" b="1" dirty="0">
                <a:solidFill>
                  <a:srgbClr val="00A896"/>
                </a:solidFill>
                <a:latin typeface="Georgia" pitchFamily="34" charset="0"/>
                <a:ea typeface="Georgia" pitchFamily="34" charset="-122"/>
                <a:cs typeface="Georgia" pitchFamily="34" charset="-120"/>
              </a:rPr>
              <a:t>"</a:t>
            </a:r>
            <a:r>
              <a:rPr lang="en-US" sz="1050" i="1" dirty="0">
                <a:solidFill>
                  <a:srgbClr val="FFFFFF"/>
                </a:solidFill>
                <a:latin typeface="Calibri" pitchFamily="34" charset="0"/>
                <a:ea typeface="Calibri" pitchFamily="34" charset="-122"/>
                <a:cs typeface="Calibri" pitchFamily="34" charset="-120"/>
              </a:rPr>
              <a:t>Technical accuracy is insufficient for AI adoption — Cognitive Fit and Explanation Quality are the true drivers of human-AI synergy.</a:t>
            </a:r>
            <a:r>
              <a:rPr lang="en-US" sz="2400" b="1" dirty="0">
                <a:solidFill>
                  <a:srgbClr val="00A896"/>
                </a:solidFill>
                <a:latin typeface="Georgia" pitchFamily="34" charset="0"/>
                <a:ea typeface="Georgia" pitchFamily="34" charset="-122"/>
                <a:cs typeface="Georgia" pitchFamily="34" charset="-120"/>
              </a:rPr>
              <a:t>"</a:t>
            </a:r>
            <a:endParaRPr lang="en-US" sz="2400" dirty="0"/>
          </a:p>
        </p:txBody>
      </p:sp>
      <p:sp>
        <p:nvSpPr>
          <p:cNvPr id="19" name="Shape 17"/>
          <p:cNvSpPr/>
          <p:nvPr/>
        </p:nvSpPr>
        <p:spPr>
          <a:xfrm>
            <a:off x="0" y="4892040"/>
            <a:ext cx="9144000" cy="256032"/>
          </a:xfrm>
          <a:prstGeom prst="rect">
            <a:avLst/>
          </a:prstGeom>
          <a:solidFill>
            <a:srgbClr val="1E3A5F"/>
          </a:solidFill>
          <a:ln/>
        </p:spPr>
        <p:txBody>
          <a:bodyPr/>
          <a:lstStyle/>
          <a:p>
            <a:endParaRPr lang="en-US"/>
          </a:p>
        </p:txBody>
      </p:sp>
      <p:sp>
        <p:nvSpPr>
          <p:cNvPr id="20" name="Text 18"/>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C7C84"/>
          </a:solidFill>
          <a:ln/>
        </p:spPr>
        <p:txBody>
          <a:bodyPr/>
          <a:lstStyle/>
          <a:p>
            <a:endParaRPr lang="en-US"/>
          </a:p>
        </p:txBody>
      </p:sp>
      <p:sp>
        <p:nvSpPr>
          <p:cNvPr id="3" name="Text 1"/>
          <p:cNvSpPr/>
          <p:nvPr/>
        </p:nvSpPr>
        <p:spPr>
          <a:xfrm>
            <a:off x="457200" y="228600"/>
            <a:ext cx="3657600" cy="411480"/>
          </a:xfrm>
          <a:prstGeom prst="rect">
            <a:avLst/>
          </a:prstGeom>
          <a:noFill/>
          <a:ln/>
        </p:spPr>
        <p:txBody>
          <a:bodyPr wrap="square" lIns="0" tIns="0" rIns="0" bIns="0" rtlCol="0" anchor="ctr"/>
          <a:lstStyle/>
          <a:p>
            <a:pPr marL="0" indent="0">
              <a:buNone/>
            </a:pPr>
            <a:r>
              <a:rPr lang="en-US" sz="2200" b="1" dirty="0">
                <a:solidFill>
                  <a:srgbClr val="1C2D41"/>
                </a:solidFill>
                <a:latin typeface="Trebuchet MS" pitchFamily="34" charset="0"/>
                <a:ea typeface="Trebuchet MS" pitchFamily="34" charset="-122"/>
                <a:cs typeface="Trebuchet MS" pitchFamily="34" charset="-120"/>
              </a:rPr>
              <a:t>References</a:t>
            </a:r>
            <a:endParaRPr lang="en-US" sz="2200" dirty="0"/>
          </a:p>
        </p:txBody>
      </p:sp>
      <p:sp>
        <p:nvSpPr>
          <p:cNvPr id="4" name="Text 2"/>
          <p:cNvSpPr/>
          <p:nvPr/>
        </p:nvSpPr>
        <p:spPr>
          <a:xfrm>
            <a:off x="457200" y="777240"/>
            <a:ext cx="8229600" cy="3931920"/>
          </a:xfrm>
          <a:prstGeom prst="rect">
            <a:avLst/>
          </a:prstGeom>
          <a:noFill/>
          <a:ln/>
        </p:spPr>
        <p:txBody>
          <a:bodyPr wrap="square" lIns="0" tIns="0" rIns="0" bIns="0" rtlCol="0" anchor="t"/>
          <a:lstStyle/>
          <a:p>
            <a:pPr marL="0" indent="0">
              <a:lnSpc>
                <a:spcPct val="120000"/>
              </a:lnSpc>
              <a:spcAft>
                <a:spcPts val="800"/>
              </a:spcAft>
              <a:buNone/>
            </a:pPr>
            <a:r>
              <a:rPr lang="en-US" sz="950" dirty="0">
                <a:solidFill>
                  <a:srgbClr val="3B5068"/>
                </a:solidFill>
                <a:latin typeface="Calibri" pitchFamily="34" charset="0"/>
                <a:ea typeface="Calibri" pitchFamily="34" charset="-122"/>
                <a:cs typeface="Calibri" pitchFamily="34" charset="-120"/>
              </a:rPr>
              <a:t>1.  Ebermann, C., Selisky, M., &amp; Weibelzahl, S. (2023). Explainable AI: The effect of contradictory decisions and explanations on users' acceptance. International Journal of Human-Computer Interaction, 39(9), 1807-1826.</a:t>
            </a:r>
            <a:endParaRPr lang="en-US" sz="950" dirty="0"/>
          </a:p>
          <a:p>
            <a:pPr marL="0" indent="0">
              <a:lnSpc>
                <a:spcPct val="120000"/>
              </a:lnSpc>
              <a:spcAft>
                <a:spcPts val="800"/>
              </a:spcAft>
              <a:buNone/>
            </a:pPr>
            <a:r>
              <a:rPr lang="en-US" sz="950" dirty="0">
                <a:solidFill>
                  <a:srgbClr val="3B5068"/>
                </a:solidFill>
                <a:latin typeface="Calibri" pitchFamily="34" charset="0"/>
                <a:ea typeface="Calibri" pitchFamily="34" charset="-122"/>
                <a:cs typeface="Calibri" pitchFamily="34" charset="-120"/>
              </a:rPr>
              <a:t>2.  Jiang, L., et al. (2023). Who should be first? How and when AI-human order influences procedural justice. PLoS ONE, 18(7), e0284840.</a:t>
            </a:r>
            <a:endParaRPr lang="en-US" sz="950" dirty="0"/>
          </a:p>
          <a:p>
            <a:pPr marL="0" indent="0">
              <a:lnSpc>
                <a:spcPct val="120000"/>
              </a:lnSpc>
              <a:spcAft>
                <a:spcPts val="800"/>
              </a:spcAft>
              <a:buNone/>
            </a:pPr>
            <a:r>
              <a:rPr lang="en-US" sz="950" dirty="0">
                <a:solidFill>
                  <a:srgbClr val="3B5068"/>
                </a:solidFill>
                <a:latin typeface="Calibri" pitchFamily="34" charset="0"/>
                <a:ea typeface="Calibri" pitchFamily="34" charset="-122"/>
                <a:cs typeface="Calibri" pitchFamily="34" charset="-120"/>
              </a:rPr>
              <a:t>3.  Lai, V., Chen, C., Smith-Renner, A. M., Liao, Q. V., &amp; Tan, C. (2023). Towards a science of human-AI decision making. FAccT '23 Proceedings.</a:t>
            </a:r>
            <a:endParaRPr lang="en-US" sz="950" dirty="0"/>
          </a:p>
          <a:p>
            <a:pPr marL="0" indent="0">
              <a:lnSpc>
                <a:spcPct val="120000"/>
              </a:lnSpc>
              <a:spcAft>
                <a:spcPts val="800"/>
              </a:spcAft>
              <a:buNone/>
            </a:pPr>
            <a:r>
              <a:rPr lang="en-US" sz="950" dirty="0">
                <a:solidFill>
                  <a:srgbClr val="3B5068"/>
                </a:solidFill>
                <a:latin typeface="Calibri" pitchFamily="34" charset="0"/>
                <a:ea typeface="Calibri" pitchFamily="34" charset="-122"/>
                <a:cs typeface="Calibri" pitchFamily="34" charset="-120"/>
              </a:rPr>
              <a:t>4.  Neri, G., et al. (2025). Data visualization in AI-assisted decision-making: A systematic review. Frontiers in Communication, 10, 1605655.</a:t>
            </a:r>
            <a:endParaRPr lang="en-US" sz="950" dirty="0"/>
          </a:p>
          <a:p>
            <a:pPr marL="0" indent="0">
              <a:lnSpc>
                <a:spcPct val="120000"/>
              </a:lnSpc>
              <a:spcAft>
                <a:spcPts val="800"/>
              </a:spcAft>
              <a:buNone/>
            </a:pPr>
            <a:r>
              <a:rPr lang="en-US" sz="950" dirty="0">
                <a:solidFill>
                  <a:srgbClr val="3B5068"/>
                </a:solidFill>
                <a:latin typeface="Calibri" pitchFamily="34" charset="0"/>
                <a:ea typeface="Calibri" pitchFamily="34" charset="-122"/>
                <a:cs typeface="Calibri" pitchFamily="34" charset="-120"/>
              </a:rPr>
              <a:t>5.  Wen, Y., Wang, J., &amp; Chen, X. (2025). Trust and AI weight: Human-AI collaboration in organizational management decision-making. Frontiers in Organizational Psychology, 3, 1419403.</a:t>
            </a:r>
            <a:endParaRPr lang="en-US" sz="950" dirty="0"/>
          </a:p>
          <a:p>
            <a:pPr marL="0" indent="0">
              <a:lnSpc>
                <a:spcPct val="120000"/>
              </a:lnSpc>
              <a:spcAft>
                <a:spcPts val="800"/>
              </a:spcAft>
              <a:buNone/>
            </a:pPr>
            <a:r>
              <a:rPr lang="en-US" sz="950" dirty="0">
                <a:solidFill>
                  <a:srgbClr val="3B5068"/>
                </a:solidFill>
                <a:latin typeface="Calibri" pitchFamily="34" charset="0"/>
                <a:ea typeface="Calibri" pitchFamily="34" charset="-122"/>
                <a:cs typeface="Calibri" pitchFamily="34" charset="-120"/>
              </a:rPr>
              <a:t>6.  Yaniv, I., &amp; Kleinberger, E. (2000). Advice taking in decision making: Egocentric discounting and reputation formation. Organizational Behavior and Human Decision Processes, 83(2), 260-281.</a:t>
            </a:r>
            <a:endParaRPr lang="en-US" sz="950" dirty="0"/>
          </a:p>
        </p:txBody>
      </p:sp>
      <p:sp>
        <p:nvSpPr>
          <p:cNvPr id="5" name="Shape 3"/>
          <p:cNvSpPr/>
          <p:nvPr/>
        </p:nvSpPr>
        <p:spPr>
          <a:xfrm>
            <a:off x="0" y="4892040"/>
            <a:ext cx="9144000" cy="256032"/>
          </a:xfrm>
          <a:prstGeom prst="rect">
            <a:avLst/>
          </a:prstGeom>
          <a:solidFill>
            <a:srgbClr val="1A2744"/>
          </a:solidFill>
          <a:ln/>
        </p:spPr>
        <p:txBody>
          <a:bodyPr/>
          <a:lstStyle/>
          <a:p>
            <a:endParaRPr lang="en-US"/>
          </a:p>
        </p:txBody>
      </p:sp>
      <p:sp>
        <p:nvSpPr>
          <p:cNvPr id="6" name="Text 4"/>
          <p:cNvSpPr/>
          <p:nvPr/>
        </p:nvSpPr>
        <p:spPr>
          <a:xfrm>
            <a:off x="457200" y="4892040"/>
            <a:ext cx="8229600" cy="256032"/>
          </a:xfrm>
          <a:prstGeom prst="rect">
            <a:avLst/>
          </a:prstGeom>
          <a:noFill/>
          <a:ln/>
        </p:spPr>
        <p:txBody>
          <a:bodyPr wrap="square" rtlCol="0" anchor="ctr"/>
          <a:lstStyle/>
          <a:p>
            <a:pPr marL="0" indent="0">
              <a:buNone/>
            </a:pPr>
            <a:r>
              <a:rPr lang="en-US" sz="800" dirty="0">
                <a:solidFill>
                  <a:srgbClr val="7C919E"/>
                </a:solidFill>
                <a:latin typeface="Calibri" pitchFamily="34" charset="0"/>
                <a:ea typeface="Calibri" pitchFamily="34" charset="-122"/>
                <a:cs typeface="Calibri" pitchFamily="34" charset="-120"/>
              </a:rPr>
              <a:t>Shivam Thakkar  |  CS628 Final Presentation  |  Human-AI Synergy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2234</Words>
  <Application>Microsoft Macintosh PowerPoint</Application>
  <PresentationFormat>On-screen Show (16:9)</PresentationFormat>
  <Paragraphs>170</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Consolas</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Human-AI Synergy: Quantifying the Impact of Explanation Quality on User Trust</dc:title>
  <dc:subject>PptxGenJS Presentation</dc:subject>
  <dc:creator>Shivam Thakkar</dc:creator>
  <cp:lastModifiedBy>Shivam Umakant Thakkar</cp:lastModifiedBy>
  <cp:revision>1</cp:revision>
  <dcterms:created xsi:type="dcterms:W3CDTF">2026-03-27T22:33:31Z</dcterms:created>
  <dcterms:modified xsi:type="dcterms:W3CDTF">2026-03-27T22:40:18Z</dcterms:modified>
</cp:coreProperties>
</file>